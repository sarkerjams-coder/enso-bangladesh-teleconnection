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8" r:id="rId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1770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951387-8933-43AC-9F1E-E95B326ABA00}" type="datetimeFigureOut">
              <a:rPr lang="en-US" smtClean="0"/>
              <a:t>9/21/2026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676CFD-78C9-4246-96D9-B2E43063714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547396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951387-8933-43AC-9F1E-E95B326ABA00}" type="datetimeFigureOut">
              <a:rPr lang="en-US" smtClean="0"/>
              <a:t>9/21/2026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676CFD-78C9-4246-96D9-B2E43063714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937021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951387-8933-43AC-9F1E-E95B326ABA00}" type="datetimeFigureOut">
              <a:rPr lang="en-US" smtClean="0"/>
              <a:t>9/21/2026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676CFD-78C9-4246-96D9-B2E43063714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958441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951387-8933-43AC-9F1E-E95B326ABA00}" type="datetimeFigureOut">
              <a:rPr lang="en-US" smtClean="0"/>
              <a:t>9/21/2026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676CFD-78C9-4246-96D9-B2E43063714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068054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951387-8933-43AC-9F1E-E95B326ABA00}" type="datetimeFigureOut">
              <a:rPr lang="en-US" smtClean="0"/>
              <a:t>9/21/2026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676CFD-78C9-4246-96D9-B2E43063714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295689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951387-8933-43AC-9F1E-E95B326ABA00}" type="datetimeFigureOut">
              <a:rPr lang="en-US" smtClean="0"/>
              <a:t>9/21/2026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676CFD-78C9-4246-96D9-B2E43063714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90434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951387-8933-43AC-9F1E-E95B326ABA00}" type="datetimeFigureOut">
              <a:rPr lang="en-US" smtClean="0"/>
              <a:t>9/21/2026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676CFD-78C9-4246-96D9-B2E43063714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82237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951387-8933-43AC-9F1E-E95B326ABA00}" type="datetimeFigureOut">
              <a:rPr lang="en-US" smtClean="0"/>
              <a:t>9/21/2026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676CFD-78C9-4246-96D9-B2E43063714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255326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951387-8933-43AC-9F1E-E95B326ABA00}" type="datetimeFigureOut">
              <a:rPr lang="en-US" smtClean="0"/>
              <a:t>9/21/2026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676CFD-78C9-4246-96D9-B2E43063714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785672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951387-8933-43AC-9F1E-E95B326ABA00}" type="datetimeFigureOut">
              <a:rPr lang="en-US" smtClean="0"/>
              <a:t>9/21/2026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676CFD-78C9-4246-96D9-B2E43063714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093090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951387-8933-43AC-9F1E-E95B326ABA00}" type="datetimeFigureOut">
              <a:rPr lang="en-US" smtClean="0"/>
              <a:t>9/21/2026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676CFD-78C9-4246-96D9-B2E43063714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760566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9951387-8933-43AC-9F1E-E95B326ABA00}" type="datetimeFigureOut">
              <a:rPr lang="en-US" smtClean="0"/>
              <a:t>9/21/2026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E676CFD-78C9-4246-96D9-B2E43063714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864079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C87B2F-E924-111A-916A-FD0A8E37E1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5" name="Group 104">
            <a:extLst>
              <a:ext uri="{FF2B5EF4-FFF2-40B4-BE49-F238E27FC236}">
                <a16:creationId xmlns:a16="http://schemas.microsoft.com/office/drawing/2014/main" id="{5A229A11-B2E5-4251-8BFE-9315167308DA}"/>
              </a:ext>
            </a:extLst>
          </p:cNvPr>
          <p:cNvGrpSpPr/>
          <p:nvPr/>
        </p:nvGrpSpPr>
        <p:grpSpPr>
          <a:xfrm>
            <a:off x="1617938" y="552639"/>
            <a:ext cx="5804718" cy="3986839"/>
            <a:chOff x="1617938" y="552639"/>
            <a:chExt cx="5804718" cy="3986839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23D83A68-F295-D8B4-399A-917D7C6015A2}"/>
                </a:ext>
              </a:extLst>
            </p:cNvPr>
            <p:cNvSpPr/>
            <p:nvPr/>
          </p:nvSpPr>
          <p:spPr>
            <a:xfrm>
              <a:off x="6210405" y="552639"/>
              <a:ext cx="1005840" cy="27432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it-IT" sz="900" b="1" dirty="0">
                  <a:cs typeface="Times New Roman" panose="02020603050405020304" pitchFamily="18" charset="0"/>
                </a:rPr>
                <a:t>Climate Datasets </a:t>
              </a:r>
            </a:p>
            <a:p>
              <a:pPr algn="ctr"/>
              <a:r>
                <a:rPr lang="it-IT" sz="900" b="1" dirty="0">
                  <a:cs typeface="Times New Roman" panose="02020603050405020304" pitchFamily="18" charset="0"/>
                </a:rPr>
                <a:t>(1982–2022)</a:t>
              </a:r>
              <a:endParaRPr lang="en-US" sz="900" b="1" dirty="0">
                <a:cs typeface="Times New Roman" panose="02020603050405020304" pitchFamily="18" charset="0"/>
              </a:endParaRP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B37766BD-913F-53F8-E218-91276D249B6C}"/>
                </a:ext>
              </a:extLst>
            </p:cNvPr>
            <p:cNvSpPr/>
            <p:nvPr/>
          </p:nvSpPr>
          <p:spPr>
            <a:xfrm>
              <a:off x="4100083" y="552639"/>
              <a:ext cx="822960" cy="274320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it-IT" sz="900" dirty="0">
                  <a:cs typeface="Times New Roman" panose="02020603050405020304" pitchFamily="18" charset="0"/>
                </a:rPr>
                <a:t>Tmax | Tmin</a:t>
              </a:r>
            </a:p>
            <a:p>
              <a:pPr algn="ctr"/>
              <a:r>
                <a:rPr lang="it-IT" sz="900" i="1" dirty="0">
                  <a:cs typeface="Times New Roman" panose="02020603050405020304" pitchFamily="18" charset="0"/>
                </a:rPr>
                <a:t>(From BMD)</a:t>
              </a:r>
              <a:endParaRPr lang="en-US" sz="900" i="1" dirty="0">
                <a:cs typeface="Times New Roman" panose="02020603050405020304" pitchFamily="18" charset="0"/>
              </a:endParaRP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F2A417D2-8F32-0CEA-1709-7C98DF1EAC24}"/>
                </a:ext>
              </a:extLst>
            </p:cNvPr>
            <p:cNvSpPr/>
            <p:nvPr/>
          </p:nvSpPr>
          <p:spPr>
            <a:xfrm>
              <a:off x="2637043" y="943097"/>
              <a:ext cx="2286000" cy="457200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900" dirty="0"/>
                <a:t>Precipitation Data</a:t>
              </a:r>
            </a:p>
            <a:p>
              <a:pPr algn="ctr"/>
              <a:r>
                <a:rPr lang="en-US" sz="900" dirty="0"/>
                <a:t>(</a:t>
              </a:r>
              <a:r>
                <a:rPr lang="en-US" sz="900" dirty="0" err="1"/>
                <a:t>Prcptot</a:t>
              </a:r>
              <a:r>
                <a:rPr lang="en-US" sz="900" dirty="0"/>
                <a:t>, R10mm, R20mm, Rx1day, Rx5day)</a:t>
              </a:r>
            </a:p>
            <a:p>
              <a:pPr algn="ctr"/>
              <a:r>
                <a:rPr lang="it-IT" sz="900" i="1" dirty="0">
                  <a:cs typeface="Times New Roman" panose="02020603050405020304" pitchFamily="18" charset="0"/>
                </a:rPr>
                <a:t>(From ETCCDI)</a:t>
              </a:r>
              <a:endParaRPr lang="en-US" sz="900" i="1" dirty="0">
                <a:cs typeface="Times New Roman" panose="02020603050405020304" pitchFamily="18" charset="0"/>
              </a:endParaRP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181087AE-ACCD-4F8B-D887-BA10F2EE4912}"/>
                </a:ext>
              </a:extLst>
            </p:cNvPr>
            <p:cNvSpPr/>
            <p:nvPr/>
          </p:nvSpPr>
          <p:spPr>
            <a:xfrm>
              <a:off x="4572523" y="1541892"/>
              <a:ext cx="1554480" cy="457200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900" dirty="0"/>
                <a:t>ENSO SST Data </a:t>
              </a:r>
            </a:p>
            <a:p>
              <a:pPr algn="ctr"/>
              <a:r>
                <a:rPr lang="en-US" sz="900" dirty="0"/>
                <a:t>(Niño 1+2, Niño 3, Niño 3.4)</a:t>
              </a:r>
            </a:p>
            <a:p>
              <a:pPr algn="ctr"/>
              <a:r>
                <a:rPr lang="it-IT" sz="900" i="1" dirty="0">
                  <a:cs typeface="Times New Roman" panose="02020603050405020304" pitchFamily="18" charset="0"/>
                </a:rPr>
                <a:t>(From </a:t>
              </a:r>
              <a:r>
                <a:rPr lang="en-US" sz="900" i="1" dirty="0">
                  <a:cs typeface="Times New Roman" panose="02020603050405020304" pitchFamily="18" charset="0"/>
                </a:rPr>
                <a:t>NOAA PSL</a:t>
              </a:r>
              <a:r>
                <a:rPr lang="it-IT" sz="900" i="1" dirty="0">
                  <a:cs typeface="Times New Roman" panose="02020603050405020304" pitchFamily="18" charset="0"/>
                </a:rPr>
                <a:t>)</a:t>
              </a:r>
              <a:endParaRPr lang="en-US" sz="900" i="1" dirty="0">
                <a:cs typeface="Times New Roman" panose="02020603050405020304" pitchFamily="18" charset="0"/>
              </a:endParaRPr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0253CE17-F40A-6129-E0A4-91DF27A64774}"/>
                </a:ext>
              </a:extLst>
            </p:cNvPr>
            <p:cNvSpPr/>
            <p:nvPr/>
          </p:nvSpPr>
          <p:spPr>
            <a:xfrm>
              <a:off x="2702384" y="552639"/>
              <a:ext cx="1097280" cy="274320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900" dirty="0"/>
                <a:t>Quality control and KNN imputation</a:t>
              </a:r>
              <a:endParaRPr lang="en-US" sz="900" dirty="0">
                <a:cs typeface="Times New Roman" panose="02020603050405020304" pitchFamily="18" charset="0"/>
              </a:endParaRPr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7E14B4C3-1593-04B8-3587-8BD0E3202C3E}"/>
                </a:ext>
              </a:extLst>
            </p:cNvPr>
            <p:cNvSpPr/>
            <p:nvPr/>
          </p:nvSpPr>
          <p:spPr>
            <a:xfrm>
              <a:off x="1650825" y="1636849"/>
              <a:ext cx="1463040" cy="274320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900" dirty="0"/>
                <a:t>STATISTICAL ASSOCIATION</a:t>
              </a:r>
            </a:p>
            <a:p>
              <a:pPr algn="ctr"/>
              <a:r>
                <a:rPr lang="en-US" sz="900" dirty="0"/>
                <a:t>(Pearson correlation)</a:t>
              </a:r>
              <a:endParaRPr lang="en-US" sz="900" dirty="0">
                <a:cs typeface="Times New Roman" panose="02020603050405020304" pitchFamily="18" charset="0"/>
              </a:endParaRPr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462BF64A-151B-9B90-DDF1-A681D1B91349}"/>
                </a:ext>
              </a:extLst>
            </p:cNvPr>
            <p:cNvSpPr/>
            <p:nvPr/>
          </p:nvSpPr>
          <p:spPr>
            <a:xfrm>
              <a:off x="1650825" y="2273771"/>
              <a:ext cx="1463040" cy="191033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900" dirty="0"/>
                <a:t>PREDICTIVE MODELLING</a:t>
              </a:r>
              <a:endParaRPr lang="en-US" sz="900" dirty="0">
                <a:cs typeface="Times New Roman" panose="02020603050405020304" pitchFamily="18" charset="0"/>
              </a:endParaRPr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49BFAF67-D17B-C6A1-9057-A866C8BA0A44}"/>
                </a:ext>
              </a:extLst>
            </p:cNvPr>
            <p:cNvSpPr/>
            <p:nvPr/>
          </p:nvSpPr>
          <p:spPr>
            <a:xfrm>
              <a:off x="4679457" y="2753090"/>
              <a:ext cx="731520" cy="191033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900" dirty="0"/>
                <a:t>Raw data</a:t>
              </a:r>
              <a:endParaRPr lang="en-US" sz="900" dirty="0">
                <a:cs typeface="Times New Roman" panose="02020603050405020304" pitchFamily="18" charset="0"/>
              </a:endParaRPr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40F63C9A-26B6-FD3A-E202-64CE5F9F4A4A}"/>
                </a:ext>
              </a:extLst>
            </p:cNvPr>
            <p:cNvSpPr/>
            <p:nvPr/>
          </p:nvSpPr>
          <p:spPr>
            <a:xfrm>
              <a:off x="4405137" y="3153961"/>
              <a:ext cx="1280160" cy="289561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900" dirty="0"/>
                <a:t>MLA-based prediction</a:t>
              </a:r>
            </a:p>
            <a:p>
              <a:pPr algn="ctr"/>
              <a:r>
                <a:rPr lang="en-US" sz="900" b="1" dirty="0"/>
                <a:t>LGBM | XGB | RF</a:t>
              </a:r>
              <a:endParaRPr lang="en-US" sz="900" b="1" dirty="0">
                <a:cs typeface="Times New Roman" panose="02020603050405020304" pitchFamily="18" charset="0"/>
              </a:endParaRPr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55049FEA-5877-1D1C-E0AA-83ACFA0522A5}"/>
                </a:ext>
              </a:extLst>
            </p:cNvPr>
            <p:cNvSpPr/>
            <p:nvPr/>
          </p:nvSpPr>
          <p:spPr>
            <a:xfrm>
              <a:off x="6142496" y="2719621"/>
              <a:ext cx="1280160" cy="182880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prstDash val="dash"/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900" dirty="0"/>
                <a:t>Raw data performance</a:t>
              </a:r>
              <a:endParaRPr lang="en-US" sz="900" dirty="0">
                <a:cs typeface="Times New Roman" panose="02020603050405020304" pitchFamily="18" charset="0"/>
              </a:endParaRPr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C3453EB1-A362-743E-EA6C-FE03CCE27260}"/>
                </a:ext>
              </a:extLst>
            </p:cNvPr>
            <p:cNvSpPr/>
            <p:nvPr/>
          </p:nvSpPr>
          <p:spPr>
            <a:xfrm>
              <a:off x="6188216" y="3133402"/>
              <a:ext cx="1188720" cy="274320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prstDash val="dash"/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900" dirty="0"/>
                <a:t>Raw vs. decomposed comparison</a:t>
              </a:r>
              <a:endParaRPr lang="en-US" sz="900" dirty="0">
                <a:cs typeface="Times New Roman" panose="02020603050405020304" pitchFamily="18" charset="0"/>
              </a:endParaRPr>
            </a:p>
          </p:txBody>
        </p: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2CBBCC4B-06D8-885E-B206-625354ECAAA6}"/>
                </a:ext>
              </a:extLst>
            </p:cNvPr>
            <p:cNvSpPr/>
            <p:nvPr/>
          </p:nvSpPr>
          <p:spPr>
            <a:xfrm>
              <a:off x="4172675" y="4356598"/>
              <a:ext cx="1737360" cy="18288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lIns="0" rIns="0" rtlCol="0" anchor="ctr"/>
            <a:lstStyle/>
            <a:p>
              <a:pPr algn="ctr"/>
              <a:r>
                <a:rPr lang="en-US" sz="900" b="1" dirty="0"/>
                <a:t>Optimal ML– wavelet framework</a:t>
              </a:r>
              <a:endParaRPr lang="en-US" sz="900" b="1" dirty="0">
                <a:cs typeface="Times New Roman" panose="02020603050405020304" pitchFamily="18" charset="0"/>
              </a:endParaRPr>
            </a:p>
          </p:txBody>
        </p:sp>
        <p:cxnSp>
          <p:nvCxnSpPr>
            <p:cNvPr id="36" name="Straight Arrow Connector 35">
              <a:extLst>
                <a:ext uri="{FF2B5EF4-FFF2-40B4-BE49-F238E27FC236}">
                  <a16:creationId xmlns:a16="http://schemas.microsoft.com/office/drawing/2014/main" id="{0E1D01AF-9B8F-20E6-128D-E4C0414A098D}"/>
                </a:ext>
              </a:extLst>
            </p:cNvPr>
            <p:cNvCxnSpPr>
              <a:cxnSpLocks/>
              <a:stCxn id="5" idx="1"/>
              <a:endCxn id="9" idx="3"/>
            </p:cNvCxnSpPr>
            <p:nvPr/>
          </p:nvCxnSpPr>
          <p:spPr>
            <a:xfrm rot="10800000" flipV="1">
              <a:off x="4923043" y="689799"/>
              <a:ext cx="1287362" cy="481898"/>
            </a:xfrm>
            <a:prstGeom prst="bentConnector3">
              <a:avLst>
                <a:gd name="adj1" fmla="val 50000"/>
              </a:avLst>
            </a:prstGeom>
            <a:ln w="158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Arrow Connector 37">
              <a:extLst>
                <a:ext uri="{FF2B5EF4-FFF2-40B4-BE49-F238E27FC236}">
                  <a16:creationId xmlns:a16="http://schemas.microsoft.com/office/drawing/2014/main" id="{D9B0E21B-8FD1-DED3-74FA-C28BC29F948B}"/>
                </a:ext>
              </a:extLst>
            </p:cNvPr>
            <p:cNvCxnSpPr>
              <a:cxnSpLocks/>
              <a:stCxn id="5" idx="2"/>
              <a:endCxn id="11" idx="3"/>
            </p:cNvCxnSpPr>
            <p:nvPr/>
          </p:nvCxnSpPr>
          <p:spPr>
            <a:xfrm rot="5400000">
              <a:off x="5948398" y="1005564"/>
              <a:ext cx="943533" cy="586322"/>
            </a:xfrm>
            <a:prstGeom prst="bentConnector2">
              <a:avLst/>
            </a:prstGeom>
            <a:ln w="158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Arrow Connector 37">
              <a:extLst>
                <a:ext uri="{FF2B5EF4-FFF2-40B4-BE49-F238E27FC236}">
                  <a16:creationId xmlns:a16="http://schemas.microsoft.com/office/drawing/2014/main" id="{65ED9605-FE98-2EF2-3983-265552BFA24E}"/>
                </a:ext>
              </a:extLst>
            </p:cNvPr>
            <p:cNvCxnSpPr>
              <a:cxnSpLocks/>
              <a:stCxn id="5" idx="1"/>
              <a:endCxn id="7" idx="3"/>
            </p:cNvCxnSpPr>
            <p:nvPr/>
          </p:nvCxnSpPr>
          <p:spPr>
            <a:xfrm flipH="1">
              <a:off x="4923043" y="689799"/>
              <a:ext cx="1287362" cy="0"/>
            </a:xfrm>
            <a:prstGeom prst="straightConnector1">
              <a:avLst/>
            </a:prstGeom>
            <a:ln w="158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Straight Arrow Connector 49">
              <a:extLst>
                <a:ext uri="{FF2B5EF4-FFF2-40B4-BE49-F238E27FC236}">
                  <a16:creationId xmlns:a16="http://schemas.microsoft.com/office/drawing/2014/main" id="{DA865B5F-E729-D794-01A5-09AB14CFB5F0}"/>
                </a:ext>
              </a:extLst>
            </p:cNvPr>
            <p:cNvCxnSpPr>
              <a:cxnSpLocks/>
              <a:stCxn id="7" idx="1"/>
              <a:endCxn id="13" idx="3"/>
            </p:cNvCxnSpPr>
            <p:nvPr/>
          </p:nvCxnSpPr>
          <p:spPr>
            <a:xfrm flipH="1">
              <a:off x="3799664" y="689799"/>
              <a:ext cx="300419" cy="0"/>
            </a:xfrm>
            <a:prstGeom prst="straightConnector1">
              <a:avLst/>
            </a:prstGeom>
            <a:ln w="158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Straight Arrow Connector 37">
              <a:extLst>
                <a:ext uri="{FF2B5EF4-FFF2-40B4-BE49-F238E27FC236}">
                  <a16:creationId xmlns:a16="http://schemas.microsoft.com/office/drawing/2014/main" id="{B786CFC0-06CC-07B5-034D-710A1D7AF971}"/>
                </a:ext>
              </a:extLst>
            </p:cNvPr>
            <p:cNvCxnSpPr>
              <a:cxnSpLocks/>
              <a:stCxn id="13" idx="1"/>
              <a:endCxn id="15" idx="0"/>
            </p:cNvCxnSpPr>
            <p:nvPr/>
          </p:nvCxnSpPr>
          <p:spPr>
            <a:xfrm rot="10800000" flipV="1">
              <a:off x="2382346" y="689799"/>
              <a:ext cx="320039" cy="947050"/>
            </a:xfrm>
            <a:prstGeom prst="bentConnector2">
              <a:avLst/>
            </a:prstGeom>
            <a:ln w="158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Straight Arrow Connector 37">
              <a:extLst>
                <a:ext uri="{FF2B5EF4-FFF2-40B4-BE49-F238E27FC236}">
                  <a16:creationId xmlns:a16="http://schemas.microsoft.com/office/drawing/2014/main" id="{1DE47238-E4D7-FDCC-F1A6-A025C77CFC7A}"/>
                </a:ext>
              </a:extLst>
            </p:cNvPr>
            <p:cNvCxnSpPr>
              <a:cxnSpLocks/>
              <a:stCxn id="11" idx="1"/>
              <a:endCxn id="15" idx="3"/>
            </p:cNvCxnSpPr>
            <p:nvPr/>
          </p:nvCxnSpPr>
          <p:spPr>
            <a:xfrm flipH="1">
              <a:off x="3113865" y="1770492"/>
              <a:ext cx="1458658" cy="3517"/>
            </a:xfrm>
            <a:prstGeom prst="straightConnector1">
              <a:avLst/>
            </a:prstGeom>
            <a:ln w="158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Straight Arrow Connector 70">
              <a:extLst>
                <a:ext uri="{FF2B5EF4-FFF2-40B4-BE49-F238E27FC236}">
                  <a16:creationId xmlns:a16="http://schemas.microsoft.com/office/drawing/2014/main" id="{444CE4AA-06A4-732D-B72E-74717E5C248C}"/>
                </a:ext>
              </a:extLst>
            </p:cNvPr>
            <p:cNvCxnSpPr>
              <a:cxnSpLocks/>
              <a:stCxn id="9" idx="1"/>
              <a:endCxn id="15" idx="0"/>
            </p:cNvCxnSpPr>
            <p:nvPr/>
          </p:nvCxnSpPr>
          <p:spPr>
            <a:xfrm rot="10800000" flipV="1">
              <a:off x="2382345" y="1171697"/>
              <a:ext cx="254698" cy="465152"/>
            </a:xfrm>
            <a:prstGeom prst="bentConnector2">
              <a:avLst/>
            </a:prstGeom>
            <a:ln w="158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9" name="Straight Arrow Connector 78">
              <a:extLst>
                <a:ext uri="{FF2B5EF4-FFF2-40B4-BE49-F238E27FC236}">
                  <a16:creationId xmlns:a16="http://schemas.microsoft.com/office/drawing/2014/main" id="{919232C9-D26F-1FED-3E3F-93589E1748DC}"/>
                </a:ext>
              </a:extLst>
            </p:cNvPr>
            <p:cNvCxnSpPr>
              <a:cxnSpLocks/>
              <a:stCxn id="15" idx="2"/>
              <a:endCxn id="17" idx="0"/>
            </p:cNvCxnSpPr>
            <p:nvPr/>
          </p:nvCxnSpPr>
          <p:spPr>
            <a:xfrm>
              <a:off x="2382345" y="1911169"/>
              <a:ext cx="0" cy="362602"/>
            </a:xfrm>
            <a:prstGeom prst="straightConnector1">
              <a:avLst/>
            </a:prstGeom>
            <a:ln w="158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6" name="Straight Arrow Connector 37">
              <a:extLst>
                <a:ext uri="{FF2B5EF4-FFF2-40B4-BE49-F238E27FC236}">
                  <a16:creationId xmlns:a16="http://schemas.microsoft.com/office/drawing/2014/main" id="{51C44CDF-AB12-8CCF-F7FF-8FDCBBF8297A}"/>
                </a:ext>
              </a:extLst>
            </p:cNvPr>
            <p:cNvCxnSpPr>
              <a:cxnSpLocks/>
              <a:stCxn id="193" idx="2"/>
              <a:endCxn id="19" idx="0"/>
            </p:cNvCxnSpPr>
            <p:nvPr/>
          </p:nvCxnSpPr>
          <p:spPr>
            <a:xfrm>
              <a:off x="5045217" y="2529307"/>
              <a:ext cx="0" cy="223783"/>
            </a:xfrm>
            <a:prstGeom prst="straightConnector1">
              <a:avLst/>
            </a:prstGeom>
            <a:ln w="158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9" name="Straight Arrow Connector 37">
              <a:extLst>
                <a:ext uri="{FF2B5EF4-FFF2-40B4-BE49-F238E27FC236}">
                  <a16:creationId xmlns:a16="http://schemas.microsoft.com/office/drawing/2014/main" id="{320EBA87-6352-5DA4-C1B5-2DF5B4D5C1E7}"/>
                </a:ext>
              </a:extLst>
            </p:cNvPr>
            <p:cNvCxnSpPr>
              <a:cxnSpLocks/>
              <a:stCxn id="191" idx="2"/>
              <a:endCxn id="34" idx="0"/>
            </p:cNvCxnSpPr>
            <p:nvPr/>
          </p:nvCxnSpPr>
          <p:spPr>
            <a:xfrm>
              <a:off x="2382345" y="3080809"/>
              <a:ext cx="0" cy="368569"/>
            </a:xfrm>
            <a:prstGeom prst="straightConnector1">
              <a:avLst/>
            </a:prstGeom>
            <a:ln w="158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" name="Straight Arrow Connector 37">
              <a:extLst>
                <a:ext uri="{FF2B5EF4-FFF2-40B4-BE49-F238E27FC236}">
                  <a16:creationId xmlns:a16="http://schemas.microsoft.com/office/drawing/2014/main" id="{50E1C9A9-D8DC-C8B6-2E34-7D065E9A89DC}"/>
                </a:ext>
              </a:extLst>
            </p:cNvPr>
            <p:cNvCxnSpPr>
              <a:cxnSpLocks/>
              <a:stCxn id="19" idx="2"/>
              <a:endCxn id="23" idx="0"/>
            </p:cNvCxnSpPr>
            <p:nvPr/>
          </p:nvCxnSpPr>
          <p:spPr>
            <a:xfrm>
              <a:off x="5045217" y="2944123"/>
              <a:ext cx="0" cy="209838"/>
            </a:xfrm>
            <a:prstGeom prst="straightConnector1">
              <a:avLst/>
            </a:prstGeom>
            <a:ln w="158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Straight Arrow Connector 37">
              <a:extLst>
                <a:ext uri="{FF2B5EF4-FFF2-40B4-BE49-F238E27FC236}">
                  <a16:creationId xmlns:a16="http://schemas.microsoft.com/office/drawing/2014/main" id="{3880045B-5F77-9701-1550-1509B7B7B753}"/>
                </a:ext>
              </a:extLst>
            </p:cNvPr>
            <p:cNvCxnSpPr>
              <a:cxnSpLocks/>
              <a:stCxn id="34" idx="3"/>
              <a:endCxn id="23" idx="1"/>
            </p:cNvCxnSpPr>
            <p:nvPr/>
          </p:nvCxnSpPr>
          <p:spPr>
            <a:xfrm flipV="1">
              <a:off x="3146752" y="3298742"/>
              <a:ext cx="1258385" cy="435100"/>
            </a:xfrm>
            <a:prstGeom prst="bentConnector3">
              <a:avLst>
                <a:gd name="adj1" fmla="val 50000"/>
              </a:avLst>
            </a:prstGeom>
            <a:ln w="158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8" name="Straight Arrow Connector 37">
              <a:extLst>
                <a:ext uri="{FF2B5EF4-FFF2-40B4-BE49-F238E27FC236}">
                  <a16:creationId xmlns:a16="http://schemas.microsoft.com/office/drawing/2014/main" id="{1F744C63-0F2B-C7C9-F3B5-A004F260A50C}"/>
                </a:ext>
              </a:extLst>
            </p:cNvPr>
            <p:cNvCxnSpPr>
              <a:cxnSpLocks/>
              <a:stCxn id="23" idx="3"/>
              <a:endCxn id="25" idx="1"/>
            </p:cNvCxnSpPr>
            <p:nvPr/>
          </p:nvCxnSpPr>
          <p:spPr>
            <a:xfrm flipV="1">
              <a:off x="5685297" y="2811061"/>
              <a:ext cx="457199" cy="487681"/>
            </a:xfrm>
            <a:prstGeom prst="bentConnector3">
              <a:avLst>
                <a:gd name="adj1" fmla="val 50000"/>
              </a:avLst>
            </a:prstGeom>
            <a:ln w="15875">
              <a:solidFill>
                <a:schemeClr val="tx1"/>
              </a:solidFill>
              <a:prstDash val="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1" name="Straight Arrow Connector 37">
              <a:extLst>
                <a:ext uri="{FF2B5EF4-FFF2-40B4-BE49-F238E27FC236}">
                  <a16:creationId xmlns:a16="http://schemas.microsoft.com/office/drawing/2014/main" id="{5E7A16F0-D878-A165-ED82-7A2F780D1F6A}"/>
                </a:ext>
              </a:extLst>
            </p:cNvPr>
            <p:cNvCxnSpPr>
              <a:cxnSpLocks/>
              <a:stCxn id="23" idx="2"/>
              <a:endCxn id="60" idx="0"/>
            </p:cNvCxnSpPr>
            <p:nvPr/>
          </p:nvCxnSpPr>
          <p:spPr>
            <a:xfrm>
              <a:off x="5045217" y="3443522"/>
              <a:ext cx="1" cy="180076"/>
            </a:xfrm>
            <a:prstGeom prst="straightConnector1">
              <a:avLst/>
            </a:prstGeom>
            <a:ln w="158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" name="Straight Arrow Connector 37">
              <a:extLst>
                <a:ext uri="{FF2B5EF4-FFF2-40B4-BE49-F238E27FC236}">
                  <a16:creationId xmlns:a16="http://schemas.microsoft.com/office/drawing/2014/main" id="{27AD2DB2-E97B-4A80-408C-2D34CC217294}"/>
                </a:ext>
              </a:extLst>
            </p:cNvPr>
            <p:cNvCxnSpPr>
              <a:cxnSpLocks/>
              <a:stCxn id="25" idx="2"/>
              <a:endCxn id="27" idx="0"/>
            </p:cNvCxnSpPr>
            <p:nvPr/>
          </p:nvCxnSpPr>
          <p:spPr>
            <a:xfrm>
              <a:off x="6782576" y="2902501"/>
              <a:ext cx="0" cy="230901"/>
            </a:xfrm>
            <a:prstGeom prst="straightConnector1">
              <a:avLst/>
            </a:prstGeom>
            <a:ln w="15875">
              <a:solidFill>
                <a:schemeClr val="tx1"/>
              </a:solidFill>
              <a:prstDash val="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7" name="Straight Arrow Connector 37">
              <a:extLst>
                <a:ext uri="{FF2B5EF4-FFF2-40B4-BE49-F238E27FC236}">
                  <a16:creationId xmlns:a16="http://schemas.microsoft.com/office/drawing/2014/main" id="{5FA9EB4A-A1D3-B142-78CC-7FFB3BD793BD}"/>
                </a:ext>
              </a:extLst>
            </p:cNvPr>
            <p:cNvCxnSpPr>
              <a:cxnSpLocks/>
              <a:stCxn id="60" idx="2"/>
              <a:endCxn id="31" idx="0"/>
            </p:cNvCxnSpPr>
            <p:nvPr/>
          </p:nvCxnSpPr>
          <p:spPr>
            <a:xfrm flipH="1">
              <a:off x="5041355" y="4176521"/>
              <a:ext cx="3863" cy="180077"/>
            </a:xfrm>
            <a:prstGeom prst="straightConnector1">
              <a:avLst/>
            </a:prstGeom>
            <a:ln w="158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7" name="Rectangle 186">
              <a:extLst>
                <a:ext uri="{FF2B5EF4-FFF2-40B4-BE49-F238E27FC236}">
                  <a16:creationId xmlns:a16="http://schemas.microsoft.com/office/drawing/2014/main" id="{C03BD7FB-2FD0-1497-B146-450E0DE7F2FF}"/>
                </a:ext>
              </a:extLst>
            </p:cNvPr>
            <p:cNvSpPr/>
            <p:nvPr/>
          </p:nvSpPr>
          <p:spPr>
            <a:xfrm>
              <a:off x="3326352" y="2829599"/>
              <a:ext cx="731520" cy="19103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prstDash val="dash"/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900" dirty="0"/>
                <a:t>Raw data</a:t>
              </a:r>
              <a:endParaRPr lang="en-US" sz="900" dirty="0">
                <a:cs typeface="Times New Roman" panose="02020603050405020304" pitchFamily="18" charset="0"/>
              </a:endParaRPr>
            </a:p>
          </p:txBody>
        </p:sp>
        <p:sp>
          <p:nvSpPr>
            <p:cNvPr id="191" name="Rectangle 190">
              <a:extLst>
                <a:ext uri="{FF2B5EF4-FFF2-40B4-BE49-F238E27FC236}">
                  <a16:creationId xmlns:a16="http://schemas.microsoft.com/office/drawing/2014/main" id="{723A7AE0-2E6E-A43F-4AC3-191C0524ECBD}"/>
                </a:ext>
              </a:extLst>
            </p:cNvPr>
            <p:cNvSpPr/>
            <p:nvPr/>
          </p:nvSpPr>
          <p:spPr>
            <a:xfrm>
              <a:off x="1650825" y="2760769"/>
              <a:ext cx="1463040" cy="320040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900" b="1" i="1" dirty="0">
                  <a:cs typeface="Times New Roman" panose="02020603050405020304" pitchFamily="18" charset="0"/>
                </a:rPr>
                <a:t>Predictors</a:t>
              </a:r>
            </a:p>
            <a:p>
              <a:pPr algn="ctr"/>
              <a:r>
                <a:rPr lang="en-US" sz="900" dirty="0" err="1"/>
                <a:t>Tmax</a:t>
              </a:r>
              <a:r>
                <a:rPr lang="en-US" sz="900" dirty="0"/>
                <a:t> | </a:t>
              </a:r>
              <a:r>
                <a:rPr lang="en-US" sz="900" dirty="0" err="1"/>
                <a:t>Tmin</a:t>
              </a:r>
              <a:r>
                <a:rPr lang="en-US" sz="900" dirty="0"/>
                <a:t> | </a:t>
              </a:r>
              <a:r>
                <a:rPr lang="en-US" sz="900" dirty="0" err="1"/>
                <a:t>Prcp</a:t>
              </a:r>
              <a:r>
                <a:rPr lang="en-US" sz="900" dirty="0"/>
                <a:t> indices</a:t>
              </a:r>
              <a:endParaRPr lang="en-US" sz="900" dirty="0">
                <a:cs typeface="Times New Roman" panose="02020603050405020304" pitchFamily="18" charset="0"/>
              </a:endParaRPr>
            </a:p>
          </p:txBody>
        </p:sp>
        <p:sp>
          <p:nvSpPr>
            <p:cNvPr id="193" name="Rectangle 192">
              <a:extLst>
                <a:ext uri="{FF2B5EF4-FFF2-40B4-BE49-F238E27FC236}">
                  <a16:creationId xmlns:a16="http://schemas.microsoft.com/office/drawing/2014/main" id="{9A42EAC3-825A-AD89-0F19-82AEE4559EE5}"/>
                </a:ext>
              </a:extLst>
            </p:cNvPr>
            <p:cNvSpPr/>
            <p:nvPr/>
          </p:nvSpPr>
          <p:spPr>
            <a:xfrm>
              <a:off x="4313697" y="2209267"/>
              <a:ext cx="1463040" cy="320040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900" b="1" i="1" dirty="0"/>
                <a:t>Target</a:t>
              </a:r>
            </a:p>
            <a:p>
              <a:pPr algn="ctr"/>
              <a:r>
                <a:rPr lang="en-US" sz="900" dirty="0"/>
                <a:t>Niño 1+2, Niño 3, Niño 3.4</a:t>
              </a:r>
              <a:endParaRPr lang="en-US" sz="900" dirty="0">
                <a:cs typeface="Times New Roman" panose="02020603050405020304" pitchFamily="18" charset="0"/>
              </a:endParaRPr>
            </a:p>
          </p:txBody>
        </p:sp>
        <p:cxnSp>
          <p:nvCxnSpPr>
            <p:cNvPr id="222" name="Straight Arrow Connector 37">
              <a:extLst>
                <a:ext uri="{FF2B5EF4-FFF2-40B4-BE49-F238E27FC236}">
                  <a16:creationId xmlns:a16="http://schemas.microsoft.com/office/drawing/2014/main" id="{E542CA3F-DA92-C488-6F47-DA08FAC04CEC}"/>
                </a:ext>
              </a:extLst>
            </p:cNvPr>
            <p:cNvCxnSpPr>
              <a:cxnSpLocks/>
              <a:stCxn id="191" idx="3"/>
              <a:endCxn id="187" idx="1"/>
            </p:cNvCxnSpPr>
            <p:nvPr/>
          </p:nvCxnSpPr>
          <p:spPr>
            <a:xfrm>
              <a:off x="3113865" y="2920789"/>
              <a:ext cx="212487" cy="4327"/>
            </a:xfrm>
            <a:prstGeom prst="straightConnector1">
              <a:avLst/>
            </a:prstGeom>
            <a:ln w="15875">
              <a:solidFill>
                <a:schemeClr val="tx1"/>
              </a:solidFill>
              <a:prstDash val="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2" name="Straight Arrow Connector 37">
              <a:extLst>
                <a:ext uri="{FF2B5EF4-FFF2-40B4-BE49-F238E27FC236}">
                  <a16:creationId xmlns:a16="http://schemas.microsoft.com/office/drawing/2014/main" id="{8A5CC6A2-1E13-45A2-F869-AC8B36B3E205}"/>
                </a:ext>
              </a:extLst>
            </p:cNvPr>
            <p:cNvCxnSpPr>
              <a:cxnSpLocks/>
              <a:stCxn id="187" idx="3"/>
              <a:endCxn id="23" idx="1"/>
            </p:cNvCxnSpPr>
            <p:nvPr/>
          </p:nvCxnSpPr>
          <p:spPr>
            <a:xfrm>
              <a:off x="4057872" y="2925116"/>
              <a:ext cx="347265" cy="373626"/>
            </a:xfrm>
            <a:prstGeom prst="bentConnector3">
              <a:avLst>
                <a:gd name="adj1" fmla="val 50000"/>
              </a:avLst>
            </a:prstGeom>
            <a:ln w="15875">
              <a:solidFill>
                <a:schemeClr val="tx1"/>
              </a:solidFill>
              <a:prstDash val="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6" name="Straight Arrow Connector 245">
              <a:extLst>
                <a:ext uri="{FF2B5EF4-FFF2-40B4-BE49-F238E27FC236}">
                  <a16:creationId xmlns:a16="http://schemas.microsoft.com/office/drawing/2014/main" id="{22229D02-0271-DAF0-C9B6-52A6EE50BCA6}"/>
                </a:ext>
              </a:extLst>
            </p:cNvPr>
            <p:cNvCxnSpPr>
              <a:cxnSpLocks/>
              <a:stCxn id="17" idx="2"/>
              <a:endCxn id="191" idx="0"/>
            </p:cNvCxnSpPr>
            <p:nvPr/>
          </p:nvCxnSpPr>
          <p:spPr>
            <a:xfrm>
              <a:off x="2382345" y="2464804"/>
              <a:ext cx="0" cy="295965"/>
            </a:xfrm>
            <a:prstGeom prst="straightConnector1">
              <a:avLst/>
            </a:prstGeom>
            <a:ln w="158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9" name="Straight Arrow Connector 248">
              <a:extLst>
                <a:ext uri="{FF2B5EF4-FFF2-40B4-BE49-F238E27FC236}">
                  <a16:creationId xmlns:a16="http://schemas.microsoft.com/office/drawing/2014/main" id="{F59631B5-7895-8A25-8F63-603158F55351}"/>
                </a:ext>
              </a:extLst>
            </p:cNvPr>
            <p:cNvCxnSpPr>
              <a:cxnSpLocks/>
              <a:stCxn id="17" idx="3"/>
              <a:endCxn id="193" idx="1"/>
            </p:cNvCxnSpPr>
            <p:nvPr/>
          </p:nvCxnSpPr>
          <p:spPr>
            <a:xfrm flipV="1">
              <a:off x="3113865" y="2369287"/>
              <a:ext cx="1199832" cy="1"/>
            </a:xfrm>
            <a:prstGeom prst="straightConnector1">
              <a:avLst/>
            </a:prstGeom>
            <a:ln w="158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91" name="Group 90">
              <a:extLst>
                <a:ext uri="{FF2B5EF4-FFF2-40B4-BE49-F238E27FC236}">
                  <a16:creationId xmlns:a16="http://schemas.microsoft.com/office/drawing/2014/main" id="{2F18F702-3A88-A911-191A-776C246D15FD}"/>
                </a:ext>
              </a:extLst>
            </p:cNvPr>
            <p:cNvGrpSpPr/>
            <p:nvPr/>
          </p:nvGrpSpPr>
          <p:grpSpPr>
            <a:xfrm>
              <a:off x="1617938" y="3449378"/>
              <a:ext cx="1528814" cy="568927"/>
              <a:chOff x="1617938" y="3449378"/>
              <a:chExt cx="1528814" cy="568927"/>
            </a:xfrm>
          </p:grpSpPr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D0D23D1D-CBC8-CEF8-50B1-AF24B7211329}"/>
                  </a:ext>
                </a:extLst>
              </p:cNvPr>
              <p:cNvSpPr/>
              <p:nvPr/>
            </p:nvSpPr>
            <p:spPr>
              <a:xfrm>
                <a:off x="1648739" y="3480239"/>
                <a:ext cx="1463040" cy="289561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r>
                  <a:rPr lang="en-US" sz="900" dirty="0"/>
                  <a:t>Wavelet decomposition</a:t>
                </a:r>
              </a:p>
              <a:p>
                <a:r>
                  <a:rPr lang="en-US" sz="900" b="1" dirty="0"/>
                  <a:t>Coif3 | Db4 | Haar | TQWT</a:t>
                </a:r>
                <a:endParaRPr lang="en-US" sz="900" dirty="0">
                  <a:cs typeface="Times New Roman" panose="02020603050405020304" pitchFamily="18" charset="0"/>
                </a:endParaRPr>
              </a:p>
            </p:txBody>
          </p:sp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F8FDD3BD-34B9-CEAA-54B8-03B69E199C2F}"/>
                  </a:ext>
                </a:extLst>
              </p:cNvPr>
              <p:cNvSpPr/>
              <p:nvPr/>
            </p:nvSpPr>
            <p:spPr>
              <a:xfrm>
                <a:off x="1648739" y="3800279"/>
                <a:ext cx="822960" cy="182880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r>
                  <a:rPr lang="en-US" sz="900" dirty="0"/>
                  <a:t>Levels L1–L7</a:t>
                </a:r>
                <a:endParaRPr lang="en-US" sz="900" dirty="0">
                  <a:cs typeface="Times New Roman" panose="02020603050405020304" pitchFamily="18" charset="0"/>
                </a:endParaRPr>
              </a:p>
            </p:txBody>
          </p:sp>
          <p:sp>
            <p:nvSpPr>
              <p:cNvPr id="34" name="Rectangle 33">
                <a:extLst>
                  <a:ext uri="{FF2B5EF4-FFF2-40B4-BE49-F238E27FC236}">
                    <a16:creationId xmlns:a16="http://schemas.microsoft.com/office/drawing/2014/main" id="{44FDC860-4FDB-538C-FBC0-7663CC2B556A}"/>
                  </a:ext>
                </a:extLst>
              </p:cNvPr>
              <p:cNvSpPr/>
              <p:nvPr/>
            </p:nvSpPr>
            <p:spPr>
              <a:xfrm>
                <a:off x="1617938" y="3449378"/>
                <a:ext cx="1528814" cy="568927"/>
              </a:xfrm>
              <a:prstGeom prst="rect">
                <a:avLst/>
              </a:prstGeom>
              <a:noFill/>
              <a:ln>
                <a:solidFill>
                  <a:schemeClr val="tx1">
                    <a:lumMod val="50000"/>
                    <a:lumOff val="50000"/>
                  </a:schemeClr>
                </a:solidFill>
                <a:prstDash val="sysDot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94" name="Group 93">
              <a:extLst>
                <a:ext uri="{FF2B5EF4-FFF2-40B4-BE49-F238E27FC236}">
                  <a16:creationId xmlns:a16="http://schemas.microsoft.com/office/drawing/2014/main" id="{E4B62CEE-701E-2CA8-822A-204DEA62F31A}"/>
                </a:ext>
              </a:extLst>
            </p:cNvPr>
            <p:cNvGrpSpPr/>
            <p:nvPr/>
          </p:nvGrpSpPr>
          <p:grpSpPr>
            <a:xfrm>
              <a:off x="4143077" y="3623598"/>
              <a:ext cx="1804281" cy="552923"/>
              <a:chOff x="4101219" y="3624206"/>
              <a:chExt cx="1804281" cy="552923"/>
            </a:xfrm>
          </p:grpSpPr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1331DB93-DAE3-B9AA-360E-333CED41B424}"/>
                  </a:ext>
                </a:extLst>
              </p:cNvPr>
              <p:cNvSpPr/>
              <p:nvPr/>
            </p:nvSpPr>
            <p:spPr>
              <a:xfrm>
                <a:off x="4134627" y="3654569"/>
                <a:ext cx="1737360" cy="182880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lIns="45720" rIns="45720" rtlCol="0" anchor="ctr"/>
              <a:lstStyle/>
              <a:p>
                <a:pPr algn="ctr"/>
                <a:r>
                  <a:rPr lang="en-US" sz="900" b="1" dirty="0"/>
                  <a:t>Decomposed-model performance</a:t>
                </a:r>
                <a:endParaRPr lang="en-US" sz="900" b="1" dirty="0">
                  <a:cs typeface="Times New Roman" panose="02020603050405020304" pitchFamily="18" charset="0"/>
                </a:endParaRPr>
              </a:p>
            </p:txBody>
          </p:sp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1A327D91-07BD-E29C-3F51-668CA1BEF50B}"/>
                  </a:ext>
                </a:extLst>
              </p:cNvPr>
              <p:cNvSpPr/>
              <p:nvPr/>
            </p:nvSpPr>
            <p:spPr>
              <a:xfrm>
                <a:off x="4134627" y="3870478"/>
                <a:ext cx="1737360" cy="274320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r>
                  <a:rPr lang="en-US" sz="900" b="1" dirty="0"/>
                  <a:t>Optimal decomposition levels</a:t>
                </a:r>
                <a:br>
                  <a:rPr lang="en-US" sz="900" dirty="0"/>
                </a:br>
                <a:r>
                  <a:rPr lang="en-US" sz="900" dirty="0"/>
                  <a:t>L6 | L7</a:t>
                </a:r>
                <a:endParaRPr lang="en-US" sz="900" dirty="0">
                  <a:cs typeface="Times New Roman" panose="02020603050405020304" pitchFamily="18" charset="0"/>
                </a:endParaRPr>
              </a:p>
            </p:txBody>
          </p:sp>
          <p:sp>
            <p:nvSpPr>
              <p:cNvPr id="60" name="Rectangle 59">
                <a:extLst>
                  <a:ext uri="{FF2B5EF4-FFF2-40B4-BE49-F238E27FC236}">
                    <a16:creationId xmlns:a16="http://schemas.microsoft.com/office/drawing/2014/main" id="{CFAEC9FA-87E4-2540-45D0-26BE7E5F50C3}"/>
                  </a:ext>
                </a:extLst>
              </p:cNvPr>
              <p:cNvSpPr/>
              <p:nvPr/>
            </p:nvSpPr>
            <p:spPr>
              <a:xfrm>
                <a:off x="4101219" y="3624206"/>
                <a:ext cx="1804281" cy="552923"/>
              </a:xfrm>
              <a:prstGeom prst="rect">
                <a:avLst/>
              </a:prstGeom>
              <a:noFill/>
              <a:ln>
                <a:solidFill>
                  <a:schemeClr val="tx1">
                    <a:lumMod val="50000"/>
                    <a:lumOff val="50000"/>
                  </a:schemeClr>
                </a:solidFill>
                <a:prstDash val="sysDot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83684426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207</TotalTime>
  <Words>122</Words>
  <Application>Microsoft Office PowerPoint</Application>
  <PresentationFormat>On-screen Show (4:3)</PresentationFormat>
  <Paragraphs>30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Nafees Ahmed</dc:creator>
  <cp:lastModifiedBy>James Shuvo</cp:lastModifiedBy>
  <cp:revision>14</cp:revision>
  <dcterms:created xsi:type="dcterms:W3CDTF">2026-09-12T13:48:16Z</dcterms:created>
  <dcterms:modified xsi:type="dcterms:W3CDTF">2026-09-21T09:59:00Z</dcterms:modified>
</cp:coreProperties>
</file>