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-994" y="-4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51387-8933-43AC-9F1E-E95B326ABA00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76CFD-78C9-4246-96D9-B2E430637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473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51387-8933-43AC-9F1E-E95B326ABA00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76CFD-78C9-4246-96D9-B2E430637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370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51387-8933-43AC-9F1E-E95B326ABA00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76CFD-78C9-4246-96D9-B2E430637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584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51387-8933-43AC-9F1E-E95B326ABA00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76CFD-78C9-4246-96D9-B2E430637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680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51387-8933-43AC-9F1E-E95B326ABA00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76CFD-78C9-4246-96D9-B2E430637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956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51387-8933-43AC-9F1E-E95B326ABA00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76CFD-78C9-4246-96D9-B2E430637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043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51387-8933-43AC-9F1E-E95B326ABA00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76CFD-78C9-4246-96D9-B2E430637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223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51387-8933-43AC-9F1E-E95B326ABA00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76CFD-78C9-4246-96D9-B2E430637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553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51387-8933-43AC-9F1E-E95B326ABA00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76CFD-78C9-4246-96D9-B2E430637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856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51387-8933-43AC-9F1E-E95B326ABA00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76CFD-78C9-4246-96D9-B2E430637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930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51387-8933-43AC-9F1E-E95B326ABA00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76CFD-78C9-4246-96D9-B2E430637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605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951387-8933-43AC-9F1E-E95B326ABA00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676CFD-78C9-4246-96D9-B2E430637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640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1443361-092D-2CDA-AFC1-EE80337E9BFA}"/>
              </a:ext>
            </a:extLst>
          </p:cNvPr>
          <p:cNvSpPr/>
          <p:nvPr/>
        </p:nvSpPr>
        <p:spPr>
          <a:xfrm>
            <a:off x="3973419" y="170259"/>
            <a:ext cx="1005840" cy="2743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900" b="1" dirty="0">
                <a:cs typeface="Times New Roman" panose="02020603050405020304" pitchFamily="18" charset="0"/>
              </a:rPr>
              <a:t>Climate Datasets </a:t>
            </a:r>
          </a:p>
          <a:p>
            <a:pPr algn="ctr"/>
            <a:r>
              <a:rPr lang="it-IT" sz="900" dirty="0">
                <a:cs typeface="Times New Roman" panose="02020603050405020304" pitchFamily="18" charset="0"/>
              </a:rPr>
              <a:t>(1982–2022)</a:t>
            </a:r>
            <a:endParaRPr lang="en-US" sz="900" dirty="0"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D76488-5254-DC8E-AB9C-ADD739C423AA}"/>
              </a:ext>
            </a:extLst>
          </p:cNvPr>
          <p:cNvSpPr/>
          <p:nvPr/>
        </p:nvSpPr>
        <p:spPr>
          <a:xfrm>
            <a:off x="1987718" y="577891"/>
            <a:ext cx="1005840" cy="2743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900" dirty="0">
                <a:cs typeface="Times New Roman" panose="02020603050405020304" pitchFamily="18" charset="0"/>
              </a:rPr>
              <a:t>Tmax | Tmin</a:t>
            </a:r>
          </a:p>
          <a:p>
            <a:pPr algn="ctr"/>
            <a:r>
              <a:rPr lang="it-IT" sz="900" dirty="0">
                <a:cs typeface="Times New Roman" panose="02020603050405020304" pitchFamily="18" charset="0"/>
              </a:rPr>
              <a:t>(From BMD)</a:t>
            </a:r>
            <a:endParaRPr lang="en-US" sz="900" dirty="0"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BD94CC-5A8D-0933-0468-97A5D143377F}"/>
              </a:ext>
            </a:extLst>
          </p:cNvPr>
          <p:cNvSpPr/>
          <p:nvPr/>
        </p:nvSpPr>
        <p:spPr>
          <a:xfrm>
            <a:off x="3333339" y="818850"/>
            <a:ext cx="2286000" cy="457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Precipitation Data</a:t>
            </a:r>
          </a:p>
          <a:p>
            <a:pPr algn="ctr"/>
            <a:r>
              <a:rPr lang="en-US" sz="900" dirty="0"/>
              <a:t>(</a:t>
            </a:r>
            <a:r>
              <a:rPr lang="en-US" sz="900" dirty="0" err="1"/>
              <a:t>Prcptot</a:t>
            </a:r>
            <a:r>
              <a:rPr lang="en-US" sz="900" dirty="0"/>
              <a:t>, R10mm, R20mm, Rx1day, Rx5day)</a:t>
            </a:r>
          </a:p>
          <a:p>
            <a:pPr algn="ctr"/>
            <a:r>
              <a:rPr lang="it-IT" sz="900" dirty="0">
                <a:cs typeface="Times New Roman" panose="02020603050405020304" pitchFamily="18" charset="0"/>
              </a:rPr>
              <a:t>(From ETCCDI)</a:t>
            </a:r>
            <a:endParaRPr lang="en-US" sz="900" dirty="0"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5BC2B3-07BE-932F-B32E-1C347302738E}"/>
              </a:ext>
            </a:extLst>
          </p:cNvPr>
          <p:cNvSpPr/>
          <p:nvPr/>
        </p:nvSpPr>
        <p:spPr>
          <a:xfrm>
            <a:off x="5959120" y="577891"/>
            <a:ext cx="1554480" cy="457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ENSO SST Data </a:t>
            </a:r>
          </a:p>
          <a:p>
            <a:pPr algn="ctr"/>
            <a:r>
              <a:rPr lang="en-US" sz="900" dirty="0"/>
              <a:t>(Niño 1+2, Niño 3, Niño 3.4)</a:t>
            </a:r>
          </a:p>
          <a:p>
            <a:pPr algn="ctr"/>
            <a:r>
              <a:rPr lang="it-IT" sz="900" dirty="0">
                <a:cs typeface="Times New Roman" panose="02020603050405020304" pitchFamily="18" charset="0"/>
              </a:rPr>
              <a:t>(From </a:t>
            </a:r>
            <a:r>
              <a:rPr lang="en-US" sz="900" dirty="0">
                <a:cs typeface="Times New Roman" panose="02020603050405020304" pitchFamily="18" charset="0"/>
              </a:rPr>
              <a:t>NOAA PSL</a:t>
            </a:r>
            <a:r>
              <a:rPr lang="it-IT" sz="900" dirty="0">
                <a:cs typeface="Times New Roman" panose="02020603050405020304" pitchFamily="18" charset="0"/>
              </a:rPr>
              <a:t>)</a:t>
            </a:r>
            <a:endParaRPr lang="en-US" sz="900" dirty="0"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12FBBF-956C-2364-DCFA-9C8B92DDDEF8}"/>
              </a:ext>
            </a:extLst>
          </p:cNvPr>
          <p:cNvSpPr/>
          <p:nvPr/>
        </p:nvSpPr>
        <p:spPr>
          <a:xfrm>
            <a:off x="1903898" y="1221044"/>
            <a:ext cx="1173480" cy="2743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Quality control and KNN imputation</a:t>
            </a:r>
            <a:endParaRPr lang="en-US" sz="900" dirty="0"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82C551-E682-A8BA-3C86-86E24FC10888}"/>
              </a:ext>
            </a:extLst>
          </p:cNvPr>
          <p:cNvSpPr/>
          <p:nvPr/>
        </p:nvSpPr>
        <p:spPr>
          <a:xfrm>
            <a:off x="3750880" y="1612356"/>
            <a:ext cx="1450919" cy="2743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STATISTICAL ASSOCIATION</a:t>
            </a:r>
          </a:p>
          <a:p>
            <a:pPr algn="ctr"/>
            <a:r>
              <a:rPr lang="en-US" sz="900" dirty="0"/>
              <a:t>(Pearson correlation)</a:t>
            </a:r>
            <a:endParaRPr lang="en-US" sz="900" dirty="0"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28F86C-DCF0-FB61-3134-B9C5EE251586}"/>
              </a:ext>
            </a:extLst>
          </p:cNvPr>
          <p:cNvSpPr/>
          <p:nvPr/>
        </p:nvSpPr>
        <p:spPr>
          <a:xfrm>
            <a:off x="3750880" y="2155609"/>
            <a:ext cx="1450919" cy="19103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PREDICTIVE MODELLING</a:t>
            </a:r>
            <a:endParaRPr lang="en-US" sz="900" dirty="0"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E39DE3-CD02-EA17-B094-077DD7514521}"/>
              </a:ext>
            </a:extLst>
          </p:cNvPr>
          <p:cNvSpPr/>
          <p:nvPr/>
        </p:nvSpPr>
        <p:spPr>
          <a:xfrm>
            <a:off x="1418480" y="3173369"/>
            <a:ext cx="731520" cy="19103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RAW-DATA</a:t>
            </a:r>
            <a:endParaRPr lang="en-US" sz="900" dirty="0"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4FD4E5A-4A93-BDEF-2F19-2BABF23209BB}"/>
              </a:ext>
            </a:extLst>
          </p:cNvPr>
          <p:cNvSpPr/>
          <p:nvPr/>
        </p:nvSpPr>
        <p:spPr>
          <a:xfrm>
            <a:off x="2328220" y="3124106"/>
            <a:ext cx="1450919" cy="28956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Wavelet Decomposition</a:t>
            </a:r>
          </a:p>
          <a:p>
            <a:pPr algn="ctr"/>
            <a:r>
              <a:rPr lang="en-US" sz="900" dirty="0"/>
              <a:t>(Coif3, Db4, Haar, TQWT)</a:t>
            </a:r>
            <a:endParaRPr lang="en-US" sz="900" dirty="0"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6A9D8AE-96BB-448E-FA20-AFD5AAF6548E}"/>
              </a:ext>
            </a:extLst>
          </p:cNvPr>
          <p:cNvSpPr/>
          <p:nvPr/>
        </p:nvSpPr>
        <p:spPr>
          <a:xfrm>
            <a:off x="3750880" y="3721233"/>
            <a:ext cx="1450919" cy="28956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MLA analysis</a:t>
            </a:r>
          </a:p>
          <a:p>
            <a:pPr algn="ctr"/>
            <a:r>
              <a:rPr lang="en-US" sz="900" dirty="0"/>
              <a:t>(LGBM| XGB | RF)</a:t>
            </a:r>
            <a:endParaRPr lang="en-US" sz="900" dirty="0"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6B9390-FBCA-984B-DD30-D1E4B8D00CC5}"/>
              </a:ext>
            </a:extLst>
          </p:cNvPr>
          <p:cNvSpPr/>
          <p:nvPr/>
        </p:nvSpPr>
        <p:spPr>
          <a:xfrm>
            <a:off x="2282098" y="4369624"/>
            <a:ext cx="1543162" cy="28956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RAW-DATA PERFORMANCE</a:t>
            </a:r>
          </a:p>
          <a:p>
            <a:pPr algn="ctr"/>
            <a:r>
              <a:rPr lang="en-US" sz="900" dirty="0"/>
              <a:t>EVALUATION</a:t>
            </a:r>
            <a:endParaRPr lang="en-US" sz="900" dirty="0"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2B645F7-2ABF-6C1A-A6CF-4E8B773126CE}"/>
              </a:ext>
            </a:extLst>
          </p:cNvPr>
          <p:cNvSpPr/>
          <p:nvPr/>
        </p:nvSpPr>
        <p:spPr>
          <a:xfrm>
            <a:off x="2282098" y="4883773"/>
            <a:ext cx="1543162" cy="28956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RAW vs. DECOMPOSED COMPARISON</a:t>
            </a:r>
            <a:endParaRPr lang="en-US" sz="900" dirty="0">
              <a:cs typeface="Times New Roman" panose="020206030504050203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D87C29E-72F0-A994-EBFE-15D3824FC7AE}"/>
              </a:ext>
            </a:extLst>
          </p:cNvPr>
          <p:cNvSpPr/>
          <p:nvPr/>
        </p:nvSpPr>
        <p:spPr>
          <a:xfrm>
            <a:off x="4592098" y="4369624"/>
            <a:ext cx="2076160" cy="28956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DECOMPOSED-MODEL PERFORMANCE</a:t>
            </a:r>
          </a:p>
          <a:p>
            <a:pPr algn="ctr"/>
            <a:r>
              <a:rPr lang="en-US" sz="900" dirty="0"/>
              <a:t>EVALUATION</a:t>
            </a:r>
            <a:endParaRPr lang="en-US" sz="900" dirty="0">
              <a:cs typeface="Times New Roman" panose="0202060305040502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2E3F21A-4E74-051F-FA72-CEE4331F09BD}"/>
              </a:ext>
            </a:extLst>
          </p:cNvPr>
          <p:cNvSpPr/>
          <p:nvPr/>
        </p:nvSpPr>
        <p:spPr>
          <a:xfrm>
            <a:off x="3438259" y="5643902"/>
            <a:ext cx="2076160" cy="28956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FINAL COMPARATIVE ANALYSIS</a:t>
            </a:r>
            <a:endParaRPr lang="en-US" sz="900" dirty="0">
              <a:cs typeface="Times New Roman" panose="02020603050405020304" pitchFamily="18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D7560EF-F1F7-9B63-C7A9-B273CA880E7B}"/>
              </a:ext>
            </a:extLst>
          </p:cNvPr>
          <p:cNvCxnSpPr>
            <a:stCxn id="5" idx="2"/>
            <a:endCxn id="9" idx="0"/>
          </p:cNvCxnSpPr>
          <p:nvPr/>
        </p:nvCxnSpPr>
        <p:spPr>
          <a:xfrm>
            <a:off x="4476339" y="444579"/>
            <a:ext cx="0" cy="374271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175C146-F0FC-AFAD-4679-C973B057BDD2}"/>
              </a:ext>
            </a:extLst>
          </p:cNvPr>
          <p:cNvCxnSpPr>
            <a:cxnSpLocks/>
            <a:stCxn id="5" idx="3"/>
            <a:endCxn id="11" idx="0"/>
          </p:cNvCxnSpPr>
          <p:nvPr/>
        </p:nvCxnSpPr>
        <p:spPr>
          <a:xfrm>
            <a:off x="4979259" y="307419"/>
            <a:ext cx="1757101" cy="270472"/>
          </a:xfrm>
          <a:prstGeom prst="bentConnector2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37">
            <a:extLst>
              <a:ext uri="{FF2B5EF4-FFF2-40B4-BE49-F238E27FC236}">
                <a16:creationId xmlns:a16="http://schemas.microsoft.com/office/drawing/2014/main" id="{F7C51CE3-C54A-CBDD-5C8B-2A24BAE56DD4}"/>
              </a:ext>
            </a:extLst>
          </p:cNvPr>
          <p:cNvCxnSpPr>
            <a:cxnSpLocks/>
            <a:stCxn id="5" idx="1"/>
            <a:endCxn id="7" idx="0"/>
          </p:cNvCxnSpPr>
          <p:nvPr/>
        </p:nvCxnSpPr>
        <p:spPr>
          <a:xfrm rot="10800000" flipV="1">
            <a:off x="2490639" y="307419"/>
            <a:ext cx="1482781" cy="270472"/>
          </a:xfrm>
          <a:prstGeom prst="bentConnector2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7796FD0-122D-9497-D7FA-980DD71875D8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>
            <a:off x="2490638" y="852211"/>
            <a:ext cx="0" cy="368833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37">
            <a:extLst>
              <a:ext uri="{FF2B5EF4-FFF2-40B4-BE49-F238E27FC236}">
                <a16:creationId xmlns:a16="http://schemas.microsoft.com/office/drawing/2014/main" id="{9D74935C-9FFD-A66C-30FB-4CD60E7E8D22}"/>
              </a:ext>
            </a:extLst>
          </p:cNvPr>
          <p:cNvCxnSpPr>
            <a:cxnSpLocks/>
            <a:stCxn id="13" idx="2"/>
            <a:endCxn id="15" idx="1"/>
          </p:cNvCxnSpPr>
          <p:nvPr/>
        </p:nvCxnSpPr>
        <p:spPr>
          <a:xfrm rot="16200000" flipH="1">
            <a:off x="2993683" y="992319"/>
            <a:ext cx="254152" cy="1260242"/>
          </a:xfrm>
          <a:prstGeom prst="bentConnector2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37">
            <a:extLst>
              <a:ext uri="{FF2B5EF4-FFF2-40B4-BE49-F238E27FC236}">
                <a16:creationId xmlns:a16="http://schemas.microsoft.com/office/drawing/2014/main" id="{D012A59A-3ECD-7769-47BC-00731193DE60}"/>
              </a:ext>
            </a:extLst>
          </p:cNvPr>
          <p:cNvCxnSpPr>
            <a:cxnSpLocks/>
            <a:stCxn id="11" idx="2"/>
            <a:endCxn id="15" idx="3"/>
          </p:cNvCxnSpPr>
          <p:nvPr/>
        </p:nvCxnSpPr>
        <p:spPr>
          <a:xfrm rot="5400000">
            <a:off x="5611868" y="625023"/>
            <a:ext cx="714425" cy="1534561"/>
          </a:xfrm>
          <a:prstGeom prst="bentConnector2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6DB6CA07-8749-DBF3-4F67-AB91E4C51438}"/>
              </a:ext>
            </a:extLst>
          </p:cNvPr>
          <p:cNvCxnSpPr>
            <a:cxnSpLocks/>
            <a:stCxn id="9" idx="2"/>
            <a:endCxn id="15" idx="0"/>
          </p:cNvCxnSpPr>
          <p:nvPr/>
        </p:nvCxnSpPr>
        <p:spPr>
          <a:xfrm>
            <a:off x="4476339" y="1276050"/>
            <a:ext cx="1" cy="336306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92FD695F-5675-5FFB-0044-3A030FA1BE74}"/>
              </a:ext>
            </a:extLst>
          </p:cNvPr>
          <p:cNvCxnSpPr>
            <a:cxnSpLocks/>
            <a:stCxn id="15" idx="2"/>
            <a:endCxn id="17" idx="0"/>
          </p:cNvCxnSpPr>
          <p:nvPr/>
        </p:nvCxnSpPr>
        <p:spPr>
          <a:xfrm>
            <a:off x="4476340" y="1886676"/>
            <a:ext cx="0" cy="268933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37">
            <a:extLst>
              <a:ext uri="{FF2B5EF4-FFF2-40B4-BE49-F238E27FC236}">
                <a16:creationId xmlns:a16="http://schemas.microsoft.com/office/drawing/2014/main" id="{416241E1-F931-F8D7-A44C-AAB5872A57E4}"/>
              </a:ext>
            </a:extLst>
          </p:cNvPr>
          <p:cNvCxnSpPr>
            <a:cxnSpLocks/>
            <a:stCxn id="118" idx="1"/>
            <a:endCxn id="19" idx="0"/>
          </p:cNvCxnSpPr>
          <p:nvPr/>
        </p:nvCxnSpPr>
        <p:spPr>
          <a:xfrm rot="10800000" flipV="1">
            <a:off x="1784241" y="2760065"/>
            <a:ext cx="720799" cy="413304"/>
          </a:xfrm>
          <a:prstGeom prst="bentConnector2">
            <a:avLst/>
          </a:prstGeom>
          <a:ln w="158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37">
            <a:extLst>
              <a:ext uri="{FF2B5EF4-FFF2-40B4-BE49-F238E27FC236}">
                <a16:creationId xmlns:a16="http://schemas.microsoft.com/office/drawing/2014/main" id="{45A8959F-A5B7-AAE1-7851-F7B699D1D9FD}"/>
              </a:ext>
            </a:extLst>
          </p:cNvPr>
          <p:cNvCxnSpPr>
            <a:cxnSpLocks/>
            <a:stCxn id="118" idx="2"/>
            <a:endCxn id="21" idx="0"/>
          </p:cNvCxnSpPr>
          <p:nvPr/>
        </p:nvCxnSpPr>
        <p:spPr>
          <a:xfrm>
            <a:off x="3053679" y="2897225"/>
            <a:ext cx="1" cy="226881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37">
            <a:extLst>
              <a:ext uri="{FF2B5EF4-FFF2-40B4-BE49-F238E27FC236}">
                <a16:creationId xmlns:a16="http://schemas.microsoft.com/office/drawing/2014/main" id="{A49B5E19-5D7A-02BB-AF3F-A01FE1FF5D3B}"/>
              </a:ext>
            </a:extLst>
          </p:cNvPr>
          <p:cNvCxnSpPr>
            <a:cxnSpLocks/>
            <a:stCxn id="19" idx="2"/>
            <a:endCxn id="23" idx="1"/>
          </p:cNvCxnSpPr>
          <p:nvPr/>
        </p:nvCxnSpPr>
        <p:spPr>
          <a:xfrm rot="16200000" flipH="1">
            <a:off x="2516754" y="2631888"/>
            <a:ext cx="501612" cy="1966640"/>
          </a:xfrm>
          <a:prstGeom prst="bentConnector2">
            <a:avLst/>
          </a:prstGeom>
          <a:ln w="158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37">
            <a:extLst>
              <a:ext uri="{FF2B5EF4-FFF2-40B4-BE49-F238E27FC236}">
                <a16:creationId xmlns:a16="http://schemas.microsoft.com/office/drawing/2014/main" id="{C4C3EF14-1702-191D-F8DD-28B445B555AE}"/>
              </a:ext>
            </a:extLst>
          </p:cNvPr>
          <p:cNvCxnSpPr>
            <a:cxnSpLocks/>
            <a:stCxn id="21" idx="2"/>
            <a:endCxn id="23" idx="1"/>
          </p:cNvCxnSpPr>
          <p:nvPr/>
        </p:nvCxnSpPr>
        <p:spPr>
          <a:xfrm rot="16200000" flipH="1">
            <a:off x="3176107" y="3291240"/>
            <a:ext cx="452347" cy="697200"/>
          </a:xfrm>
          <a:prstGeom prst="bentConnector2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37">
            <a:extLst>
              <a:ext uri="{FF2B5EF4-FFF2-40B4-BE49-F238E27FC236}">
                <a16:creationId xmlns:a16="http://schemas.microsoft.com/office/drawing/2014/main" id="{6DA299AE-90FE-BA86-AF11-D465623CA8F1}"/>
              </a:ext>
            </a:extLst>
          </p:cNvPr>
          <p:cNvCxnSpPr>
            <a:cxnSpLocks/>
            <a:stCxn id="23" idx="2"/>
            <a:endCxn id="25" idx="0"/>
          </p:cNvCxnSpPr>
          <p:nvPr/>
        </p:nvCxnSpPr>
        <p:spPr>
          <a:xfrm rot="5400000">
            <a:off x="3585595" y="3478879"/>
            <a:ext cx="358830" cy="142266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37">
            <a:extLst>
              <a:ext uri="{FF2B5EF4-FFF2-40B4-BE49-F238E27FC236}">
                <a16:creationId xmlns:a16="http://schemas.microsoft.com/office/drawing/2014/main" id="{385D8FDC-A2B2-3A79-8206-F15895F60EDA}"/>
              </a:ext>
            </a:extLst>
          </p:cNvPr>
          <p:cNvCxnSpPr>
            <a:cxnSpLocks/>
            <a:stCxn id="23" idx="2"/>
            <a:endCxn id="29" idx="0"/>
          </p:cNvCxnSpPr>
          <p:nvPr/>
        </p:nvCxnSpPr>
        <p:spPr>
          <a:xfrm rot="16200000" flipH="1">
            <a:off x="4873844" y="3613290"/>
            <a:ext cx="358830" cy="1153838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37">
            <a:extLst>
              <a:ext uri="{FF2B5EF4-FFF2-40B4-BE49-F238E27FC236}">
                <a16:creationId xmlns:a16="http://schemas.microsoft.com/office/drawing/2014/main" id="{F2B19D1D-23C8-75FC-3A5E-82A762693E09}"/>
              </a:ext>
            </a:extLst>
          </p:cNvPr>
          <p:cNvCxnSpPr>
            <a:cxnSpLocks/>
            <a:stCxn id="25" idx="2"/>
            <a:endCxn id="27" idx="0"/>
          </p:cNvCxnSpPr>
          <p:nvPr/>
        </p:nvCxnSpPr>
        <p:spPr>
          <a:xfrm>
            <a:off x="3053679" y="4659185"/>
            <a:ext cx="0" cy="224588"/>
          </a:xfrm>
          <a:prstGeom prst="straightConnector1">
            <a:avLst/>
          </a:prstGeom>
          <a:ln w="158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37">
            <a:extLst>
              <a:ext uri="{FF2B5EF4-FFF2-40B4-BE49-F238E27FC236}">
                <a16:creationId xmlns:a16="http://schemas.microsoft.com/office/drawing/2014/main" id="{F0F33668-5211-38AF-DCFF-C85F33C44FFF}"/>
              </a:ext>
            </a:extLst>
          </p:cNvPr>
          <p:cNvCxnSpPr>
            <a:cxnSpLocks/>
            <a:stCxn id="29" idx="2"/>
            <a:endCxn id="31" idx="0"/>
          </p:cNvCxnSpPr>
          <p:nvPr/>
        </p:nvCxnSpPr>
        <p:spPr>
          <a:xfrm rot="5400000">
            <a:off x="4560901" y="4574624"/>
            <a:ext cx="984717" cy="1153839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ectangle 117">
            <a:extLst>
              <a:ext uri="{FF2B5EF4-FFF2-40B4-BE49-F238E27FC236}">
                <a16:creationId xmlns:a16="http://schemas.microsoft.com/office/drawing/2014/main" id="{C5AD46C2-B654-2FD0-3ADA-CA808500111F}"/>
              </a:ext>
            </a:extLst>
          </p:cNvPr>
          <p:cNvSpPr/>
          <p:nvPr/>
        </p:nvSpPr>
        <p:spPr>
          <a:xfrm>
            <a:off x="2505039" y="2622905"/>
            <a:ext cx="1097280" cy="2743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b="1" i="1" dirty="0">
                <a:cs typeface="Times New Roman" panose="02020603050405020304" pitchFamily="18" charset="0"/>
              </a:rPr>
              <a:t>Predictors</a:t>
            </a:r>
          </a:p>
          <a:p>
            <a:pPr algn="ctr"/>
            <a:r>
              <a:rPr lang="en-US" sz="900" dirty="0" err="1"/>
              <a:t>Tmax</a:t>
            </a:r>
            <a:r>
              <a:rPr lang="en-US" sz="900" dirty="0"/>
              <a:t> | </a:t>
            </a:r>
            <a:r>
              <a:rPr lang="en-US" sz="900" dirty="0" err="1"/>
              <a:t>Tmin</a:t>
            </a:r>
            <a:r>
              <a:rPr lang="en-US" sz="900" dirty="0"/>
              <a:t> | </a:t>
            </a:r>
            <a:r>
              <a:rPr lang="en-US" sz="900" dirty="0" err="1"/>
              <a:t>Prcp</a:t>
            </a:r>
            <a:endParaRPr lang="en-US" sz="900" dirty="0">
              <a:cs typeface="Times New Roman" panose="02020603050405020304" pitchFamily="18" charset="0"/>
            </a:endParaRP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4BE4FA69-DCF8-65E2-110A-A284F327B5E4}"/>
              </a:ext>
            </a:extLst>
          </p:cNvPr>
          <p:cNvCxnSpPr>
            <a:cxnSpLocks/>
            <a:stCxn id="17" idx="1"/>
            <a:endCxn id="118" idx="0"/>
          </p:cNvCxnSpPr>
          <p:nvPr/>
        </p:nvCxnSpPr>
        <p:spPr>
          <a:xfrm rot="10800000" flipV="1">
            <a:off x="3053680" y="2251125"/>
            <a:ext cx="697201" cy="371779"/>
          </a:xfrm>
          <a:prstGeom prst="bentConnector2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Rectangle 139">
            <a:extLst>
              <a:ext uri="{FF2B5EF4-FFF2-40B4-BE49-F238E27FC236}">
                <a16:creationId xmlns:a16="http://schemas.microsoft.com/office/drawing/2014/main" id="{60F92A0B-E88D-FA5A-16DB-2A6633D9237D}"/>
              </a:ext>
            </a:extLst>
          </p:cNvPr>
          <p:cNvSpPr/>
          <p:nvPr/>
        </p:nvSpPr>
        <p:spPr>
          <a:xfrm>
            <a:off x="4897878" y="2622905"/>
            <a:ext cx="1464600" cy="2743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b="1" i="1" dirty="0"/>
              <a:t>Target</a:t>
            </a:r>
          </a:p>
          <a:p>
            <a:pPr algn="ctr"/>
            <a:r>
              <a:rPr lang="en-US" sz="900" dirty="0"/>
              <a:t>Niño 1+2, Niño 3, Niño 3.4</a:t>
            </a:r>
            <a:endParaRPr lang="en-US" sz="900" dirty="0">
              <a:cs typeface="Times New Roman" panose="02020603050405020304" pitchFamily="18" charset="0"/>
            </a:endParaRPr>
          </a:p>
        </p:txBody>
      </p:sp>
      <p:cxnSp>
        <p:nvCxnSpPr>
          <p:cNvPr id="141" name="Straight Arrow Connector 123">
            <a:extLst>
              <a:ext uri="{FF2B5EF4-FFF2-40B4-BE49-F238E27FC236}">
                <a16:creationId xmlns:a16="http://schemas.microsoft.com/office/drawing/2014/main" id="{6E2C2F88-9472-66AC-134B-207452ADFEB3}"/>
              </a:ext>
            </a:extLst>
          </p:cNvPr>
          <p:cNvCxnSpPr>
            <a:cxnSpLocks/>
            <a:stCxn id="17" idx="3"/>
            <a:endCxn id="140" idx="0"/>
          </p:cNvCxnSpPr>
          <p:nvPr/>
        </p:nvCxnSpPr>
        <p:spPr>
          <a:xfrm>
            <a:off x="5201799" y="2251126"/>
            <a:ext cx="428379" cy="371779"/>
          </a:xfrm>
          <a:prstGeom prst="bentConnector2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Rectangle 155">
            <a:extLst>
              <a:ext uri="{FF2B5EF4-FFF2-40B4-BE49-F238E27FC236}">
                <a16:creationId xmlns:a16="http://schemas.microsoft.com/office/drawing/2014/main" id="{D40829CC-B19C-DB00-218F-F67127472E8E}"/>
              </a:ext>
            </a:extLst>
          </p:cNvPr>
          <p:cNvSpPr/>
          <p:nvPr/>
        </p:nvSpPr>
        <p:spPr>
          <a:xfrm>
            <a:off x="5264418" y="3173369"/>
            <a:ext cx="731520" cy="19103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RAW-DATA</a:t>
            </a:r>
            <a:endParaRPr lang="en-US" sz="900" dirty="0">
              <a:cs typeface="Times New Roman" panose="02020603050405020304" pitchFamily="18" charset="0"/>
            </a:endParaRPr>
          </a:p>
        </p:txBody>
      </p:sp>
      <p:cxnSp>
        <p:nvCxnSpPr>
          <p:cNvPr id="157" name="Straight Arrow Connector 37">
            <a:extLst>
              <a:ext uri="{FF2B5EF4-FFF2-40B4-BE49-F238E27FC236}">
                <a16:creationId xmlns:a16="http://schemas.microsoft.com/office/drawing/2014/main" id="{81C8281E-60BF-5E39-3099-828F71D36D19}"/>
              </a:ext>
            </a:extLst>
          </p:cNvPr>
          <p:cNvCxnSpPr>
            <a:cxnSpLocks/>
            <a:stCxn id="140" idx="2"/>
            <a:endCxn id="156" idx="0"/>
          </p:cNvCxnSpPr>
          <p:nvPr/>
        </p:nvCxnSpPr>
        <p:spPr>
          <a:xfrm>
            <a:off x="5630178" y="2897225"/>
            <a:ext cx="0" cy="276144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37">
            <a:extLst>
              <a:ext uri="{FF2B5EF4-FFF2-40B4-BE49-F238E27FC236}">
                <a16:creationId xmlns:a16="http://schemas.microsoft.com/office/drawing/2014/main" id="{BEE97EBD-8FDA-1431-856F-4282E58948EA}"/>
              </a:ext>
            </a:extLst>
          </p:cNvPr>
          <p:cNvCxnSpPr>
            <a:cxnSpLocks/>
            <a:stCxn id="156" idx="2"/>
            <a:endCxn id="23" idx="3"/>
          </p:cNvCxnSpPr>
          <p:nvPr/>
        </p:nvCxnSpPr>
        <p:spPr>
          <a:xfrm rot="5400000">
            <a:off x="5165183" y="3401019"/>
            <a:ext cx="501612" cy="428379"/>
          </a:xfrm>
          <a:prstGeom prst="bentConnector2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0973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999DF-122F-69C8-FBFC-E5E47A4F7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6" name="Group 705">
            <a:extLst>
              <a:ext uri="{FF2B5EF4-FFF2-40B4-BE49-F238E27FC236}">
                <a16:creationId xmlns:a16="http://schemas.microsoft.com/office/drawing/2014/main" id="{6C54F5B7-0199-FB9D-657F-6AA06BE5B322}"/>
              </a:ext>
            </a:extLst>
          </p:cNvPr>
          <p:cNvGrpSpPr/>
          <p:nvPr/>
        </p:nvGrpSpPr>
        <p:grpSpPr>
          <a:xfrm>
            <a:off x="1650825" y="552639"/>
            <a:ext cx="5954711" cy="3868891"/>
            <a:chOff x="1650825" y="552639"/>
            <a:chExt cx="5954711" cy="386889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7038ECC-E667-1D7D-C5D9-A383F99FD9D8}"/>
                </a:ext>
              </a:extLst>
            </p:cNvPr>
            <p:cNvSpPr/>
            <p:nvPr/>
          </p:nvSpPr>
          <p:spPr>
            <a:xfrm>
              <a:off x="6210405" y="552639"/>
              <a:ext cx="1005840" cy="2743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t-IT" sz="900" b="1" dirty="0">
                  <a:cs typeface="Times New Roman" panose="02020603050405020304" pitchFamily="18" charset="0"/>
                </a:rPr>
                <a:t>Climate Datasets </a:t>
              </a:r>
            </a:p>
            <a:p>
              <a:pPr algn="ctr"/>
              <a:r>
                <a:rPr lang="it-IT" sz="900" b="1" dirty="0">
                  <a:cs typeface="Times New Roman" panose="02020603050405020304" pitchFamily="18" charset="0"/>
                </a:rPr>
                <a:t>(1982–2022)</a:t>
              </a:r>
              <a:endParaRPr lang="en-US" sz="900" b="1" dirty="0">
                <a:cs typeface="Times New Roman" panose="02020603050405020304" pitchFamily="18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CE2F899-05F8-4C3D-8FAD-9564268D62E9}"/>
                </a:ext>
              </a:extLst>
            </p:cNvPr>
            <p:cNvSpPr/>
            <p:nvPr/>
          </p:nvSpPr>
          <p:spPr>
            <a:xfrm>
              <a:off x="4100083" y="552639"/>
              <a:ext cx="822960" cy="27432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t-IT" sz="900" dirty="0">
                  <a:cs typeface="Times New Roman" panose="02020603050405020304" pitchFamily="18" charset="0"/>
                </a:rPr>
                <a:t>Tmax | Tmin</a:t>
              </a:r>
            </a:p>
            <a:p>
              <a:pPr algn="ctr"/>
              <a:r>
                <a:rPr lang="it-IT" sz="900" i="1" dirty="0">
                  <a:cs typeface="Times New Roman" panose="02020603050405020304" pitchFamily="18" charset="0"/>
                </a:rPr>
                <a:t>(From BMD)</a:t>
              </a:r>
              <a:endParaRPr lang="en-US" sz="900" i="1" dirty="0"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7877536-3CFF-197C-269B-F0398C684D32}"/>
                </a:ext>
              </a:extLst>
            </p:cNvPr>
            <p:cNvSpPr/>
            <p:nvPr/>
          </p:nvSpPr>
          <p:spPr>
            <a:xfrm>
              <a:off x="2637043" y="943097"/>
              <a:ext cx="2286000" cy="457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Precipitation Data</a:t>
              </a:r>
            </a:p>
            <a:p>
              <a:pPr algn="ctr"/>
              <a:r>
                <a:rPr lang="en-US" sz="900" dirty="0"/>
                <a:t>(</a:t>
              </a:r>
              <a:r>
                <a:rPr lang="en-US" sz="900" dirty="0" err="1"/>
                <a:t>Prcptot</a:t>
              </a:r>
              <a:r>
                <a:rPr lang="en-US" sz="900" dirty="0"/>
                <a:t>, R10mm, R20mm, Rx1day, Rx5day)</a:t>
              </a:r>
            </a:p>
            <a:p>
              <a:pPr algn="ctr"/>
              <a:r>
                <a:rPr lang="it-IT" sz="900" i="1" dirty="0">
                  <a:cs typeface="Times New Roman" panose="02020603050405020304" pitchFamily="18" charset="0"/>
                </a:rPr>
                <a:t>(From ETCCDI)</a:t>
              </a:r>
              <a:endParaRPr lang="en-US" sz="900" i="1" dirty="0">
                <a:cs typeface="Times New Roman" panose="02020603050405020304" pitchFamily="18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BF75DA4-C5AA-53F1-55F2-BDF2723D2E1A}"/>
                </a:ext>
              </a:extLst>
            </p:cNvPr>
            <p:cNvSpPr/>
            <p:nvPr/>
          </p:nvSpPr>
          <p:spPr>
            <a:xfrm>
              <a:off x="4572523" y="1541892"/>
              <a:ext cx="1554480" cy="457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ENSO SST Data </a:t>
              </a:r>
            </a:p>
            <a:p>
              <a:pPr algn="ctr"/>
              <a:r>
                <a:rPr lang="en-US" sz="900" dirty="0"/>
                <a:t>(Niño 1+2, Niño 3, Niño 3.4)</a:t>
              </a:r>
            </a:p>
            <a:p>
              <a:pPr algn="ctr"/>
              <a:r>
                <a:rPr lang="it-IT" sz="900" i="1" dirty="0">
                  <a:cs typeface="Times New Roman" panose="02020603050405020304" pitchFamily="18" charset="0"/>
                </a:rPr>
                <a:t>(From </a:t>
              </a:r>
              <a:r>
                <a:rPr lang="en-US" sz="900" i="1" dirty="0">
                  <a:cs typeface="Times New Roman" panose="02020603050405020304" pitchFamily="18" charset="0"/>
                </a:rPr>
                <a:t>NOAA PSL</a:t>
              </a:r>
              <a:r>
                <a:rPr lang="it-IT" sz="900" i="1" dirty="0">
                  <a:cs typeface="Times New Roman" panose="02020603050405020304" pitchFamily="18" charset="0"/>
                </a:rPr>
                <a:t>)</a:t>
              </a:r>
              <a:endParaRPr lang="en-US" sz="900" i="1" dirty="0">
                <a:cs typeface="Times New Roman" panose="02020603050405020304" pitchFamily="18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AF1B228-9C47-76A1-C0E8-CFC5F3696D47}"/>
                </a:ext>
              </a:extLst>
            </p:cNvPr>
            <p:cNvSpPr/>
            <p:nvPr/>
          </p:nvSpPr>
          <p:spPr>
            <a:xfrm>
              <a:off x="2702384" y="552639"/>
              <a:ext cx="1097280" cy="27432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Quality control and KNN imputation</a:t>
              </a:r>
              <a:endParaRPr lang="en-US" sz="900" dirty="0">
                <a:cs typeface="Times New Roman" panose="02020603050405020304" pitchFamily="18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DE15885-AD04-DC26-E69E-9229640CF6D6}"/>
                </a:ext>
              </a:extLst>
            </p:cNvPr>
            <p:cNvSpPr/>
            <p:nvPr/>
          </p:nvSpPr>
          <p:spPr>
            <a:xfrm>
              <a:off x="1650825" y="1636849"/>
              <a:ext cx="1463040" cy="27432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STATISTICAL ASSOCIATION</a:t>
              </a:r>
            </a:p>
            <a:p>
              <a:pPr algn="ctr"/>
              <a:r>
                <a:rPr lang="en-US" sz="900" dirty="0"/>
                <a:t>(Pearson correlation)</a:t>
              </a:r>
              <a:endParaRPr lang="en-US" sz="900" dirty="0">
                <a:cs typeface="Times New Roman" panose="02020603050405020304" pitchFamily="18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6595124-4E1D-3F46-C9C0-BFE2F99A13B6}"/>
                </a:ext>
              </a:extLst>
            </p:cNvPr>
            <p:cNvSpPr/>
            <p:nvPr/>
          </p:nvSpPr>
          <p:spPr>
            <a:xfrm>
              <a:off x="1656886" y="2273771"/>
              <a:ext cx="1450919" cy="191033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PREDICTIVE MODELLING</a:t>
              </a:r>
              <a:endParaRPr lang="en-US" sz="900" dirty="0">
                <a:cs typeface="Times New Roman" panose="02020603050405020304" pitchFamily="18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E4BAF80-6F29-F0E6-7538-3509BD27A055}"/>
                </a:ext>
              </a:extLst>
            </p:cNvPr>
            <p:cNvSpPr/>
            <p:nvPr/>
          </p:nvSpPr>
          <p:spPr>
            <a:xfrm>
              <a:off x="4679458" y="2753090"/>
              <a:ext cx="731520" cy="191033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Raw Data</a:t>
              </a:r>
              <a:endParaRPr lang="en-US" sz="900" dirty="0">
                <a:cs typeface="Times New Roman" panose="02020603050405020304" pitchFamily="18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C3BE73B-3FA1-63B6-ED71-C3B6FA02553F}"/>
                </a:ext>
              </a:extLst>
            </p:cNvPr>
            <p:cNvSpPr/>
            <p:nvPr/>
          </p:nvSpPr>
          <p:spPr>
            <a:xfrm>
              <a:off x="1650825" y="3420631"/>
              <a:ext cx="1463040" cy="28956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Wavelet Decomposition</a:t>
              </a:r>
            </a:p>
            <a:p>
              <a:pPr algn="ctr"/>
              <a:r>
                <a:rPr lang="en-US" sz="900" b="1" dirty="0"/>
                <a:t>Coif3 | Db4 | Haar | TQWT</a:t>
              </a:r>
              <a:endParaRPr lang="en-US" sz="900" dirty="0">
                <a:cs typeface="Times New Roman" panose="02020603050405020304" pitchFamily="18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728279F-7695-C37A-48AD-79080EFF6C25}"/>
                </a:ext>
              </a:extLst>
            </p:cNvPr>
            <p:cNvSpPr/>
            <p:nvPr/>
          </p:nvSpPr>
          <p:spPr>
            <a:xfrm>
              <a:off x="4496577" y="3153961"/>
              <a:ext cx="1097280" cy="28956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MLA analysis</a:t>
              </a:r>
            </a:p>
            <a:p>
              <a:pPr algn="ctr"/>
              <a:r>
                <a:rPr lang="en-US" sz="900" b="1" dirty="0"/>
                <a:t>LGBM | XGB | RF</a:t>
              </a:r>
              <a:endParaRPr lang="en-US" sz="900" b="1" dirty="0">
                <a:cs typeface="Times New Roman" panose="02020603050405020304" pitchFamily="18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0CB04D3-02D3-AC72-BF5E-E5A091B86B16}"/>
                </a:ext>
              </a:extLst>
            </p:cNvPr>
            <p:cNvSpPr/>
            <p:nvPr/>
          </p:nvSpPr>
          <p:spPr>
            <a:xfrm>
              <a:off x="6142496" y="2719621"/>
              <a:ext cx="1463040" cy="27432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RAW-DATA PERFORMANCE EVALUATION</a:t>
              </a:r>
              <a:endParaRPr lang="en-US" sz="900" dirty="0">
                <a:cs typeface="Times New Roman" panose="02020603050405020304" pitchFamily="18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6EDE89C-E494-8AB8-88C4-D77B052C0A9B}"/>
                </a:ext>
              </a:extLst>
            </p:cNvPr>
            <p:cNvSpPr/>
            <p:nvPr/>
          </p:nvSpPr>
          <p:spPr>
            <a:xfrm>
              <a:off x="6233935" y="3169202"/>
              <a:ext cx="1280160" cy="27432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RAW vs. DECOMPOSED COMPARISON</a:t>
              </a:r>
              <a:endParaRPr lang="en-US" sz="900" dirty="0">
                <a:cs typeface="Times New Roman" panose="02020603050405020304" pitchFamily="18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D20C00C-3672-63FF-DD1A-1A9CAB1A55E1}"/>
                </a:ext>
              </a:extLst>
            </p:cNvPr>
            <p:cNvSpPr/>
            <p:nvPr/>
          </p:nvSpPr>
          <p:spPr>
            <a:xfrm>
              <a:off x="4039377" y="3642965"/>
              <a:ext cx="2011680" cy="2895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DECOMPOSED-MODEL PERFORMANCE</a:t>
              </a:r>
            </a:p>
            <a:p>
              <a:pPr algn="ctr"/>
              <a:r>
                <a:rPr lang="en-US" sz="900" dirty="0"/>
                <a:t>EVALUATION</a:t>
              </a:r>
              <a:endParaRPr lang="en-US" sz="900" dirty="0">
                <a:cs typeface="Times New Roman" panose="02020603050405020304" pitchFamily="18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6E419FE-89F6-95D7-599D-88A04DF8C0B6}"/>
                </a:ext>
              </a:extLst>
            </p:cNvPr>
            <p:cNvSpPr/>
            <p:nvPr/>
          </p:nvSpPr>
          <p:spPr>
            <a:xfrm>
              <a:off x="4450857" y="4131969"/>
              <a:ext cx="1188720" cy="2895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FINAL COMPARATIVE ANALYSIS</a:t>
              </a:r>
              <a:endParaRPr lang="en-US" sz="900" dirty="0">
                <a:cs typeface="Times New Roman" panose="02020603050405020304" pitchFamily="18" charset="0"/>
              </a:endParaRP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EC221807-4B30-9643-E9CD-6BA8B4E774F5}"/>
                </a:ext>
              </a:extLst>
            </p:cNvPr>
            <p:cNvCxnSpPr>
              <a:cxnSpLocks/>
              <a:stCxn id="5" idx="1"/>
              <a:endCxn id="9" idx="3"/>
            </p:cNvCxnSpPr>
            <p:nvPr/>
          </p:nvCxnSpPr>
          <p:spPr>
            <a:xfrm rot="10800000" flipV="1">
              <a:off x="4923043" y="689799"/>
              <a:ext cx="1287362" cy="481898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1B72DE6B-98A0-E8F9-B9C4-1CB195B92D3E}"/>
                </a:ext>
              </a:extLst>
            </p:cNvPr>
            <p:cNvCxnSpPr>
              <a:cxnSpLocks/>
              <a:stCxn id="5" idx="2"/>
              <a:endCxn id="11" idx="3"/>
            </p:cNvCxnSpPr>
            <p:nvPr/>
          </p:nvCxnSpPr>
          <p:spPr>
            <a:xfrm rot="5400000">
              <a:off x="5948398" y="1005564"/>
              <a:ext cx="943533" cy="586322"/>
            </a:xfrm>
            <a:prstGeom prst="bentConnector2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37">
              <a:extLst>
                <a:ext uri="{FF2B5EF4-FFF2-40B4-BE49-F238E27FC236}">
                  <a16:creationId xmlns:a16="http://schemas.microsoft.com/office/drawing/2014/main" id="{02A06E36-FDBA-22FA-FF43-98266DE7E45D}"/>
                </a:ext>
              </a:extLst>
            </p:cNvPr>
            <p:cNvCxnSpPr>
              <a:cxnSpLocks/>
              <a:stCxn id="5" idx="1"/>
              <a:endCxn id="7" idx="3"/>
            </p:cNvCxnSpPr>
            <p:nvPr/>
          </p:nvCxnSpPr>
          <p:spPr>
            <a:xfrm flipH="1">
              <a:off x="4923043" y="689799"/>
              <a:ext cx="1287362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17A641BD-9596-F49F-2D72-091AF39094A6}"/>
                </a:ext>
              </a:extLst>
            </p:cNvPr>
            <p:cNvCxnSpPr>
              <a:cxnSpLocks/>
              <a:stCxn id="7" idx="1"/>
              <a:endCxn id="13" idx="3"/>
            </p:cNvCxnSpPr>
            <p:nvPr/>
          </p:nvCxnSpPr>
          <p:spPr>
            <a:xfrm flipH="1">
              <a:off x="3799664" y="689799"/>
              <a:ext cx="300419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37">
              <a:extLst>
                <a:ext uri="{FF2B5EF4-FFF2-40B4-BE49-F238E27FC236}">
                  <a16:creationId xmlns:a16="http://schemas.microsoft.com/office/drawing/2014/main" id="{7414F832-1EDF-A21D-8BE5-ED85F8CA747D}"/>
                </a:ext>
              </a:extLst>
            </p:cNvPr>
            <p:cNvCxnSpPr>
              <a:cxnSpLocks/>
              <a:stCxn id="13" idx="1"/>
              <a:endCxn id="15" idx="0"/>
            </p:cNvCxnSpPr>
            <p:nvPr/>
          </p:nvCxnSpPr>
          <p:spPr>
            <a:xfrm rot="10800000" flipV="1">
              <a:off x="2382346" y="689799"/>
              <a:ext cx="320039" cy="947050"/>
            </a:xfrm>
            <a:prstGeom prst="bentConnector2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37">
              <a:extLst>
                <a:ext uri="{FF2B5EF4-FFF2-40B4-BE49-F238E27FC236}">
                  <a16:creationId xmlns:a16="http://schemas.microsoft.com/office/drawing/2014/main" id="{E469A531-9E86-3C61-B95E-79E6AF41A98C}"/>
                </a:ext>
              </a:extLst>
            </p:cNvPr>
            <p:cNvCxnSpPr>
              <a:cxnSpLocks/>
              <a:stCxn id="11" idx="1"/>
              <a:endCxn id="15" idx="3"/>
            </p:cNvCxnSpPr>
            <p:nvPr/>
          </p:nvCxnSpPr>
          <p:spPr>
            <a:xfrm flipH="1">
              <a:off x="3113865" y="1770492"/>
              <a:ext cx="1458658" cy="351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5D0BC433-A525-C593-0186-CCF41AAD7A36}"/>
                </a:ext>
              </a:extLst>
            </p:cNvPr>
            <p:cNvCxnSpPr>
              <a:cxnSpLocks/>
              <a:stCxn id="9" idx="1"/>
              <a:endCxn id="15" idx="0"/>
            </p:cNvCxnSpPr>
            <p:nvPr/>
          </p:nvCxnSpPr>
          <p:spPr>
            <a:xfrm rot="10800000" flipV="1">
              <a:off x="2382345" y="1171697"/>
              <a:ext cx="254698" cy="465152"/>
            </a:xfrm>
            <a:prstGeom prst="bentConnector2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A68E7431-5D33-8301-42B4-C59433A76F64}"/>
                </a:ext>
              </a:extLst>
            </p:cNvPr>
            <p:cNvCxnSpPr>
              <a:cxnSpLocks/>
              <a:stCxn id="15" idx="2"/>
              <a:endCxn id="17" idx="0"/>
            </p:cNvCxnSpPr>
            <p:nvPr/>
          </p:nvCxnSpPr>
          <p:spPr>
            <a:xfrm>
              <a:off x="2382345" y="1911169"/>
              <a:ext cx="1" cy="362602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37">
              <a:extLst>
                <a:ext uri="{FF2B5EF4-FFF2-40B4-BE49-F238E27FC236}">
                  <a16:creationId xmlns:a16="http://schemas.microsoft.com/office/drawing/2014/main" id="{7FF90D60-CE8F-01AD-126C-A4516483F897}"/>
                </a:ext>
              </a:extLst>
            </p:cNvPr>
            <p:cNvCxnSpPr>
              <a:cxnSpLocks/>
              <a:stCxn id="193" idx="2"/>
              <a:endCxn id="19" idx="0"/>
            </p:cNvCxnSpPr>
            <p:nvPr/>
          </p:nvCxnSpPr>
          <p:spPr>
            <a:xfrm rot="16200000" flipH="1">
              <a:off x="4933326" y="2641197"/>
              <a:ext cx="223783" cy="1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37">
              <a:extLst>
                <a:ext uri="{FF2B5EF4-FFF2-40B4-BE49-F238E27FC236}">
                  <a16:creationId xmlns:a16="http://schemas.microsoft.com/office/drawing/2014/main" id="{F87C957E-CF13-FE6C-E54D-C27AA9DDFDF5}"/>
                </a:ext>
              </a:extLst>
            </p:cNvPr>
            <p:cNvCxnSpPr>
              <a:cxnSpLocks/>
              <a:stCxn id="191" idx="2"/>
              <a:endCxn id="21" idx="0"/>
            </p:cNvCxnSpPr>
            <p:nvPr/>
          </p:nvCxnSpPr>
          <p:spPr>
            <a:xfrm>
              <a:off x="2382345" y="3153961"/>
              <a:ext cx="0" cy="26667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37">
              <a:extLst>
                <a:ext uri="{FF2B5EF4-FFF2-40B4-BE49-F238E27FC236}">
                  <a16:creationId xmlns:a16="http://schemas.microsoft.com/office/drawing/2014/main" id="{86562470-D5BB-6EE6-3E8B-25B629044EDF}"/>
                </a:ext>
              </a:extLst>
            </p:cNvPr>
            <p:cNvCxnSpPr>
              <a:cxnSpLocks/>
              <a:stCxn id="19" idx="2"/>
              <a:endCxn id="23" idx="0"/>
            </p:cNvCxnSpPr>
            <p:nvPr/>
          </p:nvCxnSpPr>
          <p:spPr>
            <a:xfrm rot="5400000">
              <a:off x="4940299" y="3049042"/>
              <a:ext cx="209838" cy="1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37">
              <a:extLst>
                <a:ext uri="{FF2B5EF4-FFF2-40B4-BE49-F238E27FC236}">
                  <a16:creationId xmlns:a16="http://schemas.microsoft.com/office/drawing/2014/main" id="{3DCDEBD3-B5F0-2231-1BF2-DC423886D8F9}"/>
                </a:ext>
              </a:extLst>
            </p:cNvPr>
            <p:cNvCxnSpPr>
              <a:cxnSpLocks/>
              <a:stCxn id="21" idx="3"/>
              <a:endCxn id="23" idx="1"/>
            </p:cNvCxnSpPr>
            <p:nvPr/>
          </p:nvCxnSpPr>
          <p:spPr>
            <a:xfrm flipV="1">
              <a:off x="3113865" y="3298742"/>
              <a:ext cx="1382712" cy="266670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37">
              <a:extLst>
                <a:ext uri="{FF2B5EF4-FFF2-40B4-BE49-F238E27FC236}">
                  <a16:creationId xmlns:a16="http://schemas.microsoft.com/office/drawing/2014/main" id="{40B315B9-0FBC-8E5A-BA18-884A04A45651}"/>
                </a:ext>
              </a:extLst>
            </p:cNvPr>
            <p:cNvCxnSpPr>
              <a:cxnSpLocks/>
              <a:stCxn id="23" idx="3"/>
              <a:endCxn id="25" idx="1"/>
            </p:cNvCxnSpPr>
            <p:nvPr/>
          </p:nvCxnSpPr>
          <p:spPr>
            <a:xfrm flipV="1">
              <a:off x="5593857" y="2856781"/>
              <a:ext cx="548639" cy="441961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37">
              <a:extLst>
                <a:ext uri="{FF2B5EF4-FFF2-40B4-BE49-F238E27FC236}">
                  <a16:creationId xmlns:a16="http://schemas.microsoft.com/office/drawing/2014/main" id="{3248E542-E445-FB77-FAE5-DEDA3A37412C}"/>
                </a:ext>
              </a:extLst>
            </p:cNvPr>
            <p:cNvCxnSpPr>
              <a:cxnSpLocks/>
              <a:stCxn id="23" idx="2"/>
              <a:endCxn id="29" idx="0"/>
            </p:cNvCxnSpPr>
            <p:nvPr/>
          </p:nvCxnSpPr>
          <p:spPr>
            <a:xfrm>
              <a:off x="5045217" y="3443522"/>
              <a:ext cx="0" cy="199443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37">
              <a:extLst>
                <a:ext uri="{FF2B5EF4-FFF2-40B4-BE49-F238E27FC236}">
                  <a16:creationId xmlns:a16="http://schemas.microsoft.com/office/drawing/2014/main" id="{2B24668B-7AD7-D811-E92D-E111C0A65F9B}"/>
                </a:ext>
              </a:extLst>
            </p:cNvPr>
            <p:cNvCxnSpPr>
              <a:cxnSpLocks/>
              <a:stCxn id="25" idx="2"/>
              <a:endCxn id="27" idx="0"/>
            </p:cNvCxnSpPr>
            <p:nvPr/>
          </p:nvCxnSpPr>
          <p:spPr>
            <a:xfrm flipH="1">
              <a:off x="6874015" y="2993941"/>
              <a:ext cx="1" cy="175261"/>
            </a:xfrm>
            <a:prstGeom prst="straightConnector1">
              <a:avLst/>
            </a:prstGeom>
            <a:ln w="158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37">
              <a:extLst>
                <a:ext uri="{FF2B5EF4-FFF2-40B4-BE49-F238E27FC236}">
                  <a16:creationId xmlns:a16="http://schemas.microsoft.com/office/drawing/2014/main" id="{8ED00ED2-297A-0432-1548-FCAA7691C137}"/>
                </a:ext>
              </a:extLst>
            </p:cNvPr>
            <p:cNvCxnSpPr>
              <a:cxnSpLocks/>
              <a:stCxn id="29" idx="2"/>
              <a:endCxn id="31" idx="0"/>
            </p:cNvCxnSpPr>
            <p:nvPr/>
          </p:nvCxnSpPr>
          <p:spPr>
            <a:xfrm>
              <a:off x="5045217" y="3932526"/>
              <a:ext cx="0" cy="199443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9B723779-DEA5-DD79-92F9-7CB081A499F1}"/>
                </a:ext>
              </a:extLst>
            </p:cNvPr>
            <p:cNvSpPr/>
            <p:nvPr/>
          </p:nvSpPr>
          <p:spPr>
            <a:xfrm>
              <a:off x="3296745" y="2901868"/>
              <a:ext cx="731520" cy="19103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Raw Data</a:t>
              </a:r>
              <a:endParaRPr lang="en-US" sz="900" dirty="0">
                <a:cs typeface="Times New Roman" panose="02020603050405020304" pitchFamily="18" charset="0"/>
              </a:endParaRPr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E97679C3-9B21-3698-260D-94C8AA313870}"/>
                </a:ext>
              </a:extLst>
            </p:cNvPr>
            <p:cNvSpPr/>
            <p:nvPr/>
          </p:nvSpPr>
          <p:spPr>
            <a:xfrm>
              <a:off x="1833705" y="2833921"/>
              <a:ext cx="1097280" cy="32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b="1" i="1" dirty="0">
                  <a:cs typeface="Times New Roman" panose="02020603050405020304" pitchFamily="18" charset="0"/>
                </a:rPr>
                <a:t>Predictors</a:t>
              </a:r>
            </a:p>
            <a:p>
              <a:pPr algn="ctr"/>
              <a:r>
                <a:rPr lang="en-US" sz="900" dirty="0" err="1"/>
                <a:t>Tmax</a:t>
              </a:r>
              <a:r>
                <a:rPr lang="en-US" sz="900" dirty="0"/>
                <a:t> | </a:t>
              </a:r>
              <a:r>
                <a:rPr lang="en-US" sz="900" dirty="0" err="1"/>
                <a:t>Tmin</a:t>
              </a:r>
              <a:r>
                <a:rPr lang="en-US" sz="900" dirty="0"/>
                <a:t> | </a:t>
              </a:r>
              <a:r>
                <a:rPr lang="en-US" sz="900" dirty="0" err="1"/>
                <a:t>Prcp</a:t>
              </a:r>
              <a:endParaRPr lang="en-US" sz="900" dirty="0">
                <a:cs typeface="Times New Roman" panose="02020603050405020304" pitchFamily="18" charset="0"/>
              </a:endParaRPr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6D400CB4-40FB-BB5C-2195-776869EF1934}"/>
                </a:ext>
              </a:extLst>
            </p:cNvPr>
            <p:cNvSpPr/>
            <p:nvPr/>
          </p:nvSpPr>
          <p:spPr>
            <a:xfrm>
              <a:off x="4313697" y="2209267"/>
              <a:ext cx="1463040" cy="32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b="1" i="1" dirty="0"/>
                <a:t>Target</a:t>
              </a:r>
            </a:p>
            <a:p>
              <a:pPr algn="ctr"/>
              <a:r>
                <a:rPr lang="en-US" sz="900" dirty="0"/>
                <a:t>Niño 1+2, Niño 3, Niño 3.4</a:t>
              </a:r>
              <a:endParaRPr lang="en-US" sz="900" dirty="0">
                <a:cs typeface="Times New Roman" panose="02020603050405020304" pitchFamily="18" charset="0"/>
              </a:endParaRPr>
            </a:p>
          </p:txBody>
        </p:sp>
        <p:cxnSp>
          <p:nvCxnSpPr>
            <p:cNvPr id="222" name="Straight Arrow Connector 37">
              <a:extLst>
                <a:ext uri="{FF2B5EF4-FFF2-40B4-BE49-F238E27FC236}">
                  <a16:creationId xmlns:a16="http://schemas.microsoft.com/office/drawing/2014/main" id="{11F10232-7A3B-8D82-CB43-12930911E447}"/>
                </a:ext>
              </a:extLst>
            </p:cNvPr>
            <p:cNvCxnSpPr>
              <a:cxnSpLocks/>
              <a:stCxn id="191" idx="3"/>
              <a:endCxn id="187" idx="1"/>
            </p:cNvCxnSpPr>
            <p:nvPr/>
          </p:nvCxnSpPr>
          <p:spPr>
            <a:xfrm>
              <a:off x="2930985" y="2993941"/>
              <a:ext cx="365760" cy="3444"/>
            </a:xfrm>
            <a:prstGeom prst="straightConnector1">
              <a:avLst/>
            </a:prstGeom>
            <a:ln w="158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Arrow Connector 37">
              <a:extLst>
                <a:ext uri="{FF2B5EF4-FFF2-40B4-BE49-F238E27FC236}">
                  <a16:creationId xmlns:a16="http://schemas.microsoft.com/office/drawing/2014/main" id="{7616D1C6-0445-E16B-52FA-D3FB401CC7F7}"/>
                </a:ext>
              </a:extLst>
            </p:cNvPr>
            <p:cNvCxnSpPr>
              <a:cxnSpLocks/>
              <a:stCxn id="187" idx="3"/>
              <a:endCxn id="23" idx="1"/>
            </p:cNvCxnSpPr>
            <p:nvPr/>
          </p:nvCxnSpPr>
          <p:spPr>
            <a:xfrm>
              <a:off x="4028265" y="2997385"/>
              <a:ext cx="468312" cy="301357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Arrow Connector 245">
              <a:extLst>
                <a:ext uri="{FF2B5EF4-FFF2-40B4-BE49-F238E27FC236}">
                  <a16:creationId xmlns:a16="http://schemas.microsoft.com/office/drawing/2014/main" id="{59351D93-07AF-8D08-59B8-AEB20F452FD3}"/>
                </a:ext>
              </a:extLst>
            </p:cNvPr>
            <p:cNvCxnSpPr>
              <a:cxnSpLocks/>
              <a:stCxn id="17" idx="2"/>
              <a:endCxn id="191" idx="0"/>
            </p:cNvCxnSpPr>
            <p:nvPr/>
          </p:nvCxnSpPr>
          <p:spPr>
            <a:xfrm rot="5400000">
              <a:off x="2197788" y="2649362"/>
              <a:ext cx="369117" cy="1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Arrow Connector 248">
              <a:extLst>
                <a:ext uri="{FF2B5EF4-FFF2-40B4-BE49-F238E27FC236}">
                  <a16:creationId xmlns:a16="http://schemas.microsoft.com/office/drawing/2014/main" id="{4D543120-C962-70AD-DDB7-2B155C81457D}"/>
                </a:ext>
              </a:extLst>
            </p:cNvPr>
            <p:cNvCxnSpPr>
              <a:cxnSpLocks/>
              <a:stCxn id="17" idx="3"/>
              <a:endCxn id="193" idx="1"/>
            </p:cNvCxnSpPr>
            <p:nvPr/>
          </p:nvCxnSpPr>
          <p:spPr>
            <a:xfrm flipV="1">
              <a:off x="3107805" y="2369287"/>
              <a:ext cx="1205892" cy="1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44256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87B2F-E924-111A-916A-FD0A8E37E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roup 104">
            <a:extLst>
              <a:ext uri="{FF2B5EF4-FFF2-40B4-BE49-F238E27FC236}">
                <a16:creationId xmlns:a16="http://schemas.microsoft.com/office/drawing/2014/main" id="{5A229A11-B2E5-4251-8BFE-9315167308DA}"/>
              </a:ext>
            </a:extLst>
          </p:cNvPr>
          <p:cNvGrpSpPr/>
          <p:nvPr/>
        </p:nvGrpSpPr>
        <p:grpSpPr>
          <a:xfrm>
            <a:off x="1617938" y="552639"/>
            <a:ext cx="5804718" cy="3986839"/>
            <a:chOff x="1617938" y="552639"/>
            <a:chExt cx="5804718" cy="398683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3D83A68-F295-D8B4-399A-917D7C6015A2}"/>
                </a:ext>
              </a:extLst>
            </p:cNvPr>
            <p:cNvSpPr/>
            <p:nvPr/>
          </p:nvSpPr>
          <p:spPr>
            <a:xfrm>
              <a:off x="6210405" y="552639"/>
              <a:ext cx="1005840" cy="2743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t-IT" sz="900" b="1" dirty="0">
                  <a:cs typeface="Times New Roman" panose="02020603050405020304" pitchFamily="18" charset="0"/>
                </a:rPr>
                <a:t>Climate Datasets </a:t>
              </a:r>
            </a:p>
            <a:p>
              <a:pPr algn="ctr"/>
              <a:r>
                <a:rPr lang="it-IT" sz="900" b="1" dirty="0">
                  <a:cs typeface="Times New Roman" panose="02020603050405020304" pitchFamily="18" charset="0"/>
                </a:rPr>
                <a:t>(1982–2022)</a:t>
              </a:r>
              <a:endParaRPr lang="en-US" sz="900" b="1" dirty="0">
                <a:cs typeface="Times New Roman" panose="02020603050405020304" pitchFamily="18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37766BD-913F-53F8-E218-91276D249B6C}"/>
                </a:ext>
              </a:extLst>
            </p:cNvPr>
            <p:cNvSpPr/>
            <p:nvPr/>
          </p:nvSpPr>
          <p:spPr>
            <a:xfrm>
              <a:off x="4100083" y="552639"/>
              <a:ext cx="822960" cy="27432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t-IT" sz="900" dirty="0">
                  <a:cs typeface="Times New Roman" panose="02020603050405020304" pitchFamily="18" charset="0"/>
                </a:rPr>
                <a:t>Tmax | Tmin</a:t>
              </a:r>
            </a:p>
            <a:p>
              <a:pPr algn="ctr"/>
              <a:r>
                <a:rPr lang="it-IT" sz="900" i="1" dirty="0">
                  <a:cs typeface="Times New Roman" panose="02020603050405020304" pitchFamily="18" charset="0"/>
                </a:rPr>
                <a:t>(From BMD)</a:t>
              </a:r>
              <a:endParaRPr lang="en-US" sz="900" i="1" dirty="0"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2A417D2-8F32-0CEA-1709-7C98DF1EAC24}"/>
                </a:ext>
              </a:extLst>
            </p:cNvPr>
            <p:cNvSpPr/>
            <p:nvPr/>
          </p:nvSpPr>
          <p:spPr>
            <a:xfrm>
              <a:off x="2637043" y="943097"/>
              <a:ext cx="2286000" cy="457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Precipitation Data</a:t>
              </a:r>
            </a:p>
            <a:p>
              <a:pPr algn="ctr"/>
              <a:r>
                <a:rPr lang="en-US" sz="900" dirty="0"/>
                <a:t>(</a:t>
              </a:r>
              <a:r>
                <a:rPr lang="en-US" sz="900" dirty="0" err="1"/>
                <a:t>Prcptot</a:t>
              </a:r>
              <a:r>
                <a:rPr lang="en-US" sz="900" dirty="0"/>
                <a:t>, R10mm, R20mm, Rx1day, Rx5day)</a:t>
              </a:r>
            </a:p>
            <a:p>
              <a:pPr algn="ctr"/>
              <a:r>
                <a:rPr lang="it-IT" sz="900" i="1" dirty="0">
                  <a:cs typeface="Times New Roman" panose="02020603050405020304" pitchFamily="18" charset="0"/>
                </a:rPr>
                <a:t>(From ETCCDI)</a:t>
              </a:r>
              <a:endParaRPr lang="en-US" sz="900" i="1" dirty="0">
                <a:cs typeface="Times New Roman" panose="02020603050405020304" pitchFamily="18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81087AE-ACCD-4F8B-D887-BA10F2EE4912}"/>
                </a:ext>
              </a:extLst>
            </p:cNvPr>
            <p:cNvSpPr/>
            <p:nvPr/>
          </p:nvSpPr>
          <p:spPr>
            <a:xfrm>
              <a:off x="4572523" y="1541892"/>
              <a:ext cx="1554480" cy="457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ENSO SST Data </a:t>
              </a:r>
            </a:p>
            <a:p>
              <a:pPr algn="ctr"/>
              <a:r>
                <a:rPr lang="en-US" sz="900" dirty="0"/>
                <a:t>(Niño 1+2, Niño 3, Niño 3.4)</a:t>
              </a:r>
            </a:p>
            <a:p>
              <a:pPr algn="ctr"/>
              <a:r>
                <a:rPr lang="it-IT" sz="900" i="1" dirty="0">
                  <a:cs typeface="Times New Roman" panose="02020603050405020304" pitchFamily="18" charset="0"/>
                </a:rPr>
                <a:t>(From </a:t>
              </a:r>
              <a:r>
                <a:rPr lang="en-US" sz="900" i="1" dirty="0">
                  <a:cs typeface="Times New Roman" panose="02020603050405020304" pitchFamily="18" charset="0"/>
                </a:rPr>
                <a:t>NOAA PSL</a:t>
              </a:r>
              <a:r>
                <a:rPr lang="it-IT" sz="900" i="1" dirty="0">
                  <a:cs typeface="Times New Roman" panose="02020603050405020304" pitchFamily="18" charset="0"/>
                </a:rPr>
                <a:t>)</a:t>
              </a:r>
              <a:endParaRPr lang="en-US" sz="900" i="1" dirty="0">
                <a:cs typeface="Times New Roman" panose="02020603050405020304" pitchFamily="18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253CE17-F40A-6129-E0A4-91DF27A64774}"/>
                </a:ext>
              </a:extLst>
            </p:cNvPr>
            <p:cNvSpPr/>
            <p:nvPr/>
          </p:nvSpPr>
          <p:spPr>
            <a:xfrm>
              <a:off x="2702384" y="552639"/>
              <a:ext cx="1097280" cy="27432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Quality control and KNN imputation</a:t>
              </a:r>
              <a:endParaRPr lang="en-US" sz="900" dirty="0">
                <a:cs typeface="Times New Roman" panose="02020603050405020304" pitchFamily="18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E14B4C3-1593-04B8-3587-8BD0E3202C3E}"/>
                </a:ext>
              </a:extLst>
            </p:cNvPr>
            <p:cNvSpPr/>
            <p:nvPr/>
          </p:nvSpPr>
          <p:spPr>
            <a:xfrm>
              <a:off x="1650825" y="1636849"/>
              <a:ext cx="1463040" cy="27432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STATISTICAL ASSOCIATION</a:t>
              </a:r>
            </a:p>
            <a:p>
              <a:pPr algn="ctr"/>
              <a:r>
                <a:rPr lang="en-US" sz="900" dirty="0"/>
                <a:t>(Pearson correlation)</a:t>
              </a:r>
              <a:endParaRPr lang="en-US" sz="900" dirty="0">
                <a:cs typeface="Times New Roman" panose="02020603050405020304" pitchFamily="18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62BF64A-151B-9B90-DDF1-A681D1B91349}"/>
                </a:ext>
              </a:extLst>
            </p:cNvPr>
            <p:cNvSpPr/>
            <p:nvPr/>
          </p:nvSpPr>
          <p:spPr>
            <a:xfrm>
              <a:off x="1650825" y="2273771"/>
              <a:ext cx="1463040" cy="191033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PREDICTIVE MODELLING</a:t>
              </a:r>
              <a:endParaRPr lang="en-US" sz="900" dirty="0">
                <a:cs typeface="Times New Roman" panose="02020603050405020304" pitchFamily="18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9BFAF67-D17B-C6A1-9057-A866C8BA0A44}"/>
                </a:ext>
              </a:extLst>
            </p:cNvPr>
            <p:cNvSpPr/>
            <p:nvPr/>
          </p:nvSpPr>
          <p:spPr>
            <a:xfrm>
              <a:off x="4679457" y="2753090"/>
              <a:ext cx="731520" cy="191033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Raw data</a:t>
              </a:r>
              <a:endParaRPr lang="en-US" sz="900" dirty="0">
                <a:cs typeface="Times New Roman" panose="02020603050405020304" pitchFamily="18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0F63C9A-26B6-FD3A-E202-64CE5F9F4A4A}"/>
                </a:ext>
              </a:extLst>
            </p:cNvPr>
            <p:cNvSpPr/>
            <p:nvPr/>
          </p:nvSpPr>
          <p:spPr>
            <a:xfrm>
              <a:off x="4405137" y="3153961"/>
              <a:ext cx="1280160" cy="28956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MLA-based prediction</a:t>
              </a:r>
            </a:p>
            <a:p>
              <a:pPr algn="ctr"/>
              <a:r>
                <a:rPr lang="en-US" sz="900" b="1" dirty="0"/>
                <a:t>LGBM | XGB | RF</a:t>
              </a:r>
              <a:endParaRPr lang="en-US" sz="900" b="1" dirty="0">
                <a:cs typeface="Times New Roman" panose="02020603050405020304" pitchFamily="18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5049FEA-5877-1D1C-E0AA-83ACFA0522A5}"/>
                </a:ext>
              </a:extLst>
            </p:cNvPr>
            <p:cNvSpPr/>
            <p:nvPr/>
          </p:nvSpPr>
          <p:spPr>
            <a:xfrm>
              <a:off x="6142496" y="2719621"/>
              <a:ext cx="1280160" cy="18288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Raw data performance</a:t>
              </a:r>
              <a:endParaRPr lang="en-US" sz="900" dirty="0">
                <a:cs typeface="Times New Roman" panose="02020603050405020304" pitchFamily="18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3453EB1-A362-743E-EA6C-FE03CCE27260}"/>
                </a:ext>
              </a:extLst>
            </p:cNvPr>
            <p:cNvSpPr/>
            <p:nvPr/>
          </p:nvSpPr>
          <p:spPr>
            <a:xfrm>
              <a:off x="6188216" y="3133402"/>
              <a:ext cx="1188720" cy="27432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Raw vs. decomposed comparison</a:t>
              </a:r>
              <a:endParaRPr lang="en-US" sz="900" dirty="0">
                <a:cs typeface="Times New Roman" panose="02020603050405020304" pitchFamily="18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CBBCC4B-06D8-885E-B206-625354ECAAA6}"/>
                </a:ext>
              </a:extLst>
            </p:cNvPr>
            <p:cNvSpPr/>
            <p:nvPr/>
          </p:nvSpPr>
          <p:spPr>
            <a:xfrm>
              <a:off x="4172675" y="4356598"/>
              <a:ext cx="1737360" cy="18288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900" b="1" dirty="0"/>
                <a:t>Optimal ML– wavelet framework</a:t>
              </a:r>
              <a:endParaRPr lang="en-US" sz="900" b="1" dirty="0">
                <a:cs typeface="Times New Roman" panose="02020603050405020304" pitchFamily="18" charset="0"/>
              </a:endParaRP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0E1D01AF-9B8F-20E6-128D-E4C0414A098D}"/>
                </a:ext>
              </a:extLst>
            </p:cNvPr>
            <p:cNvCxnSpPr>
              <a:cxnSpLocks/>
              <a:stCxn id="5" idx="1"/>
              <a:endCxn id="9" idx="3"/>
            </p:cNvCxnSpPr>
            <p:nvPr/>
          </p:nvCxnSpPr>
          <p:spPr>
            <a:xfrm rot="10800000" flipV="1">
              <a:off x="4923043" y="689799"/>
              <a:ext cx="1287362" cy="481898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D9B0E21B-8FD1-DED3-74FA-C28BC29F948B}"/>
                </a:ext>
              </a:extLst>
            </p:cNvPr>
            <p:cNvCxnSpPr>
              <a:cxnSpLocks/>
              <a:stCxn id="5" idx="2"/>
              <a:endCxn id="11" idx="3"/>
            </p:cNvCxnSpPr>
            <p:nvPr/>
          </p:nvCxnSpPr>
          <p:spPr>
            <a:xfrm rot="5400000">
              <a:off x="5948398" y="1005564"/>
              <a:ext cx="943533" cy="586322"/>
            </a:xfrm>
            <a:prstGeom prst="bentConnector2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37">
              <a:extLst>
                <a:ext uri="{FF2B5EF4-FFF2-40B4-BE49-F238E27FC236}">
                  <a16:creationId xmlns:a16="http://schemas.microsoft.com/office/drawing/2014/main" id="{65ED9605-FE98-2EF2-3983-265552BFA24E}"/>
                </a:ext>
              </a:extLst>
            </p:cNvPr>
            <p:cNvCxnSpPr>
              <a:cxnSpLocks/>
              <a:stCxn id="5" idx="1"/>
              <a:endCxn id="7" idx="3"/>
            </p:cNvCxnSpPr>
            <p:nvPr/>
          </p:nvCxnSpPr>
          <p:spPr>
            <a:xfrm flipH="1">
              <a:off x="4923043" y="689799"/>
              <a:ext cx="1287362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DA865B5F-E729-D794-01A5-09AB14CFB5F0}"/>
                </a:ext>
              </a:extLst>
            </p:cNvPr>
            <p:cNvCxnSpPr>
              <a:cxnSpLocks/>
              <a:stCxn id="7" idx="1"/>
              <a:endCxn id="13" idx="3"/>
            </p:cNvCxnSpPr>
            <p:nvPr/>
          </p:nvCxnSpPr>
          <p:spPr>
            <a:xfrm flipH="1">
              <a:off x="3799664" y="689799"/>
              <a:ext cx="300419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37">
              <a:extLst>
                <a:ext uri="{FF2B5EF4-FFF2-40B4-BE49-F238E27FC236}">
                  <a16:creationId xmlns:a16="http://schemas.microsoft.com/office/drawing/2014/main" id="{B786CFC0-06CC-07B5-034D-710A1D7AF971}"/>
                </a:ext>
              </a:extLst>
            </p:cNvPr>
            <p:cNvCxnSpPr>
              <a:cxnSpLocks/>
              <a:stCxn id="13" idx="1"/>
              <a:endCxn id="15" idx="0"/>
            </p:cNvCxnSpPr>
            <p:nvPr/>
          </p:nvCxnSpPr>
          <p:spPr>
            <a:xfrm rot="10800000" flipV="1">
              <a:off x="2382346" y="689799"/>
              <a:ext cx="320039" cy="947050"/>
            </a:xfrm>
            <a:prstGeom prst="bentConnector2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37">
              <a:extLst>
                <a:ext uri="{FF2B5EF4-FFF2-40B4-BE49-F238E27FC236}">
                  <a16:creationId xmlns:a16="http://schemas.microsoft.com/office/drawing/2014/main" id="{1DE47238-E4D7-FDCC-F1A6-A025C77CFC7A}"/>
                </a:ext>
              </a:extLst>
            </p:cNvPr>
            <p:cNvCxnSpPr>
              <a:cxnSpLocks/>
              <a:stCxn id="11" idx="1"/>
              <a:endCxn id="15" idx="3"/>
            </p:cNvCxnSpPr>
            <p:nvPr/>
          </p:nvCxnSpPr>
          <p:spPr>
            <a:xfrm flipH="1">
              <a:off x="3113865" y="1770492"/>
              <a:ext cx="1458658" cy="351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444CE4AA-06A4-732D-B72E-74717E5C248C}"/>
                </a:ext>
              </a:extLst>
            </p:cNvPr>
            <p:cNvCxnSpPr>
              <a:cxnSpLocks/>
              <a:stCxn id="9" idx="1"/>
              <a:endCxn id="15" idx="0"/>
            </p:cNvCxnSpPr>
            <p:nvPr/>
          </p:nvCxnSpPr>
          <p:spPr>
            <a:xfrm rot="10800000" flipV="1">
              <a:off x="2382345" y="1171697"/>
              <a:ext cx="254698" cy="465152"/>
            </a:xfrm>
            <a:prstGeom prst="bentConnector2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919232C9-D26F-1FED-3E3F-93589E1748DC}"/>
                </a:ext>
              </a:extLst>
            </p:cNvPr>
            <p:cNvCxnSpPr>
              <a:cxnSpLocks/>
              <a:stCxn id="15" idx="2"/>
              <a:endCxn id="17" idx="0"/>
            </p:cNvCxnSpPr>
            <p:nvPr/>
          </p:nvCxnSpPr>
          <p:spPr>
            <a:xfrm>
              <a:off x="2382345" y="1911169"/>
              <a:ext cx="0" cy="362602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37">
              <a:extLst>
                <a:ext uri="{FF2B5EF4-FFF2-40B4-BE49-F238E27FC236}">
                  <a16:creationId xmlns:a16="http://schemas.microsoft.com/office/drawing/2014/main" id="{51C44CDF-AB12-8CCF-F7FF-8FDCBBF8297A}"/>
                </a:ext>
              </a:extLst>
            </p:cNvPr>
            <p:cNvCxnSpPr>
              <a:cxnSpLocks/>
              <a:stCxn id="193" idx="2"/>
              <a:endCxn id="19" idx="0"/>
            </p:cNvCxnSpPr>
            <p:nvPr/>
          </p:nvCxnSpPr>
          <p:spPr>
            <a:xfrm>
              <a:off x="5045217" y="2529307"/>
              <a:ext cx="0" cy="223783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37">
              <a:extLst>
                <a:ext uri="{FF2B5EF4-FFF2-40B4-BE49-F238E27FC236}">
                  <a16:creationId xmlns:a16="http://schemas.microsoft.com/office/drawing/2014/main" id="{320EBA87-6352-5DA4-C1B5-2DF5B4D5C1E7}"/>
                </a:ext>
              </a:extLst>
            </p:cNvPr>
            <p:cNvCxnSpPr>
              <a:cxnSpLocks/>
              <a:stCxn id="191" idx="2"/>
              <a:endCxn id="34" idx="0"/>
            </p:cNvCxnSpPr>
            <p:nvPr/>
          </p:nvCxnSpPr>
          <p:spPr>
            <a:xfrm>
              <a:off x="2382345" y="3080809"/>
              <a:ext cx="0" cy="368569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37">
              <a:extLst>
                <a:ext uri="{FF2B5EF4-FFF2-40B4-BE49-F238E27FC236}">
                  <a16:creationId xmlns:a16="http://schemas.microsoft.com/office/drawing/2014/main" id="{50E1C9A9-D8DC-C8B6-2E34-7D065E9A89DC}"/>
                </a:ext>
              </a:extLst>
            </p:cNvPr>
            <p:cNvCxnSpPr>
              <a:cxnSpLocks/>
              <a:stCxn id="19" idx="2"/>
              <a:endCxn id="23" idx="0"/>
            </p:cNvCxnSpPr>
            <p:nvPr/>
          </p:nvCxnSpPr>
          <p:spPr>
            <a:xfrm>
              <a:off x="5045217" y="2944123"/>
              <a:ext cx="0" cy="209838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37">
              <a:extLst>
                <a:ext uri="{FF2B5EF4-FFF2-40B4-BE49-F238E27FC236}">
                  <a16:creationId xmlns:a16="http://schemas.microsoft.com/office/drawing/2014/main" id="{3880045B-5F77-9701-1550-1509B7B7B753}"/>
                </a:ext>
              </a:extLst>
            </p:cNvPr>
            <p:cNvCxnSpPr>
              <a:cxnSpLocks/>
              <a:stCxn id="34" idx="3"/>
              <a:endCxn id="23" idx="1"/>
            </p:cNvCxnSpPr>
            <p:nvPr/>
          </p:nvCxnSpPr>
          <p:spPr>
            <a:xfrm flipV="1">
              <a:off x="3146752" y="3298742"/>
              <a:ext cx="1258385" cy="435100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37">
              <a:extLst>
                <a:ext uri="{FF2B5EF4-FFF2-40B4-BE49-F238E27FC236}">
                  <a16:creationId xmlns:a16="http://schemas.microsoft.com/office/drawing/2014/main" id="{1F744C63-0F2B-C7C9-F3B5-A004F260A50C}"/>
                </a:ext>
              </a:extLst>
            </p:cNvPr>
            <p:cNvCxnSpPr>
              <a:cxnSpLocks/>
              <a:stCxn id="23" idx="3"/>
              <a:endCxn id="25" idx="1"/>
            </p:cNvCxnSpPr>
            <p:nvPr/>
          </p:nvCxnSpPr>
          <p:spPr>
            <a:xfrm flipV="1">
              <a:off x="5685297" y="2811061"/>
              <a:ext cx="457199" cy="487681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37">
              <a:extLst>
                <a:ext uri="{FF2B5EF4-FFF2-40B4-BE49-F238E27FC236}">
                  <a16:creationId xmlns:a16="http://schemas.microsoft.com/office/drawing/2014/main" id="{5E7A16F0-D878-A165-ED82-7A2F780D1F6A}"/>
                </a:ext>
              </a:extLst>
            </p:cNvPr>
            <p:cNvCxnSpPr>
              <a:cxnSpLocks/>
              <a:stCxn id="23" idx="2"/>
              <a:endCxn id="60" idx="0"/>
            </p:cNvCxnSpPr>
            <p:nvPr/>
          </p:nvCxnSpPr>
          <p:spPr>
            <a:xfrm>
              <a:off x="5045217" y="3443522"/>
              <a:ext cx="1" cy="180076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37">
              <a:extLst>
                <a:ext uri="{FF2B5EF4-FFF2-40B4-BE49-F238E27FC236}">
                  <a16:creationId xmlns:a16="http://schemas.microsoft.com/office/drawing/2014/main" id="{27AD2DB2-E97B-4A80-408C-2D34CC217294}"/>
                </a:ext>
              </a:extLst>
            </p:cNvPr>
            <p:cNvCxnSpPr>
              <a:cxnSpLocks/>
              <a:stCxn id="25" idx="2"/>
              <a:endCxn id="27" idx="0"/>
            </p:cNvCxnSpPr>
            <p:nvPr/>
          </p:nvCxnSpPr>
          <p:spPr>
            <a:xfrm>
              <a:off x="6782576" y="2902501"/>
              <a:ext cx="0" cy="230901"/>
            </a:xfrm>
            <a:prstGeom prst="straightConnector1">
              <a:avLst/>
            </a:prstGeom>
            <a:ln w="158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37">
              <a:extLst>
                <a:ext uri="{FF2B5EF4-FFF2-40B4-BE49-F238E27FC236}">
                  <a16:creationId xmlns:a16="http://schemas.microsoft.com/office/drawing/2014/main" id="{5FA9EB4A-A1D3-B142-78CC-7FFB3BD793BD}"/>
                </a:ext>
              </a:extLst>
            </p:cNvPr>
            <p:cNvCxnSpPr>
              <a:cxnSpLocks/>
              <a:stCxn id="60" idx="2"/>
              <a:endCxn id="31" idx="0"/>
            </p:cNvCxnSpPr>
            <p:nvPr/>
          </p:nvCxnSpPr>
          <p:spPr>
            <a:xfrm flipH="1">
              <a:off x="5041355" y="4176521"/>
              <a:ext cx="3863" cy="18007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C03BD7FB-2FD0-1497-B146-450E0DE7F2FF}"/>
                </a:ext>
              </a:extLst>
            </p:cNvPr>
            <p:cNvSpPr/>
            <p:nvPr/>
          </p:nvSpPr>
          <p:spPr>
            <a:xfrm>
              <a:off x="3326352" y="2829599"/>
              <a:ext cx="731520" cy="19103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Raw data</a:t>
              </a:r>
              <a:endParaRPr lang="en-US" sz="900" dirty="0">
                <a:cs typeface="Times New Roman" panose="02020603050405020304" pitchFamily="18" charset="0"/>
              </a:endParaRPr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723A7AE0-2E6E-A43F-4AC3-191C0524ECBD}"/>
                </a:ext>
              </a:extLst>
            </p:cNvPr>
            <p:cNvSpPr/>
            <p:nvPr/>
          </p:nvSpPr>
          <p:spPr>
            <a:xfrm>
              <a:off x="1650825" y="2760769"/>
              <a:ext cx="1463040" cy="32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b="1" i="1" dirty="0">
                  <a:cs typeface="Times New Roman" panose="02020603050405020304" pitchFamily="18" charset="0"/>
                </a:rPr>
                <a:t>Predictors</a:t>
              </a:r>
            </a:p>
            <a:p>
              <a:pPr algn="ctr"/>
              <a:r>
                <a:rPr lang="en-US" sz="900" dirty="0" err="1"/>
                <a:t>Tmax</a:t>
              </a:r>
              <a:r>
                <a:rPr lang="en-US" sz="900" dirty="0"/>
                <a:t> | </a:t>
              </a:r>
              <a:r>
                <a:rPr lang="en-US" sz="900" dirty="0" err="1"/>
                <a:t>Tmin</a:t>
              </a:r>
              <a:r>
                <a:rPr lang="en-US" sz="900" dirty="0"/>
                <a:t> | </a:t>
              </a:r>
              <a:r>
                <a:rPr lang="en-US" sz="900" dirty="0" err="1"/>
                <a:t>Prcp</a:t>
              </a:r>
              <a:r>
                <a:rPr lang="en-US" sz="900" dirty="0"/>
                <a:t> indices</a:t>
              </a:r>
              <a:endParaRPr lang="en-US" sz="900" dirty="0">
                <a:cs typeface="Times New Roman" panose="02020603050405020304" pitchFamily="18" charset="0"/>
              </a:endParaRPr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9A42EAC3-825A-AD89-0F19-82AEE4559EE5}"/>
                </a:ext>
              </a:extLst>
            </p:cNvPr>
            <p:cNvSpPr/>
            <p:nvPr/>
          </p:nvSpPr>
          <p:spPr>
            <a:xfrm>
              <a:off x="4313697" y="2209267"/>
              <a:ext cx="1463040" cy="32004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b="1" i="1" dirty="0"/>
                <a:t>Target</a:t>
              </a:r>
            </a:p>
            <a:p>
              <a:pPr algn="ctr"/>
              <a:r>
                <a:rPr lang="en-US" sz="900" dirty="0"/>
                <a:t>Niño 1+2, Niño 3, Niño 3.4</a:t>
              </a:r>
              <a:endParaRPr lang="en-US" sz="900" dirty="0">
                <a:cs typeface="Times New Roman" panose="02020603050405020304" pitchFamily="18" charset="0"/>
              </a:endParaRPr>
            </a:p>
          </p:txBody>
        </p:sp>
        <p:cxnSp>
          <p:nvCxnSpPr>
            <p:cNvPr id="222" name="Straight Arrow Connector 37">
              <a:extLst>
                <a:ext uri="{FF2B5EF4-FFF2-40B4-BE49-F238E27FC236}">
                  <a16:creationId xmlns:a16="http://schemas.microsoft.com/office/drawing/2014/main" id="{E542CA3F-DA92-C488-6F47-DA08FAC04CEC}"/>
                </a:ext>
              </a:extLst>
            </p:cNvPr>
            <p:cNvCxnSpPr>
              <a:cxnSpLocks/>
              <a:stCxn id="191" idx="3"/>
              <a:endCxn id="187" idx="1"/>
            </p:cNvCxnSpPr>
            <p:nvPr/>
          </p:nvCxnSpPr>
          <p:spPr>
            <a:xfrm>
              <a:off x="3113865" y="2920789"/>
              <a:ext cx="212487" cy="4327"/>
            </a:xfrm>
            <a:prstGeom prst="straightConnector1">
              <a:avLst/>
            </a:prstGeom>
            <a:ln w="158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Arrow Connector 37">
              <a:extLst>
                <a:ext uri="{FF2B5EF4-FFF2-40B4-BE49-F238E27FC236}">
                  <a16:creationId xmlns:a16="http://schemas.microsoft.com/office/drawing/2014/main" id="{8A5CC6A2-1E13-45A2-F869-AC8B36B3E205}"/>
                </a:ext>
              </a:extLst>
            </p:cNvPr>
            <p:cNvCxnSpPr>
              <a:cxnSpLocks/>
              <a:stCxn id="187" idx="3"/>
              <a:endCxn id="23" idx="1"/>
            </p:cNvCxnSpPr>
            <p:nvPr/>
          </p:nvCxnSpPr>
          <p:spPr>
            <a:xfrm>
              <a:off x="4057872" y="2925116"/>
              <a:ext cx="347265" cy="373626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Arrow Connector 245">
              <a:extLst>
                <a:ext uri="{FF2B5EF4-FFF2-40B4-BE49-F238E27FC236}">
                  <a16:creationId xmlns:a16="http://schemas.microsoft.com/office/drawing/2014/main" id="{22229D02-0271-DAF0-C9B6-52A6EE50BCA6}"/>
                </a:ext>
              </a:extLst>
            </p:cNvPr>
            <p:cNvCxnSpPr>
              <a:cxnSpLocks/>
              <a:stCxn id="17" idx="2"/>
              <a:endCxn id="191" idx="0"/>
            </p:cNvCxnSpPr>
            <p:nvPr/>
          </p:nvCxnSpPr>
          <p:spPr>
            <a:xfrm>
              <a:off x="2382345" y="2464804"/>
              <a:ext cx="0" cy="29596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Arrow Connector 248">
              <a:extLst>
                <a:ext uri="{FF2B5EF4-FFF2-40B4-BE49-F238E27FC236}">
                  <a16:creationId xmlns:a16="http://schemas.microsoft.com/office/drawing/2014/main" id="{F59631B5-7895-8A25-8F63-603158F55351}"/>
                </a:ext>
              </a:extLst>
            </p:cNvPr>
            <p:cNvCxnSpPr>
              <a:cxnSpLocks/>
              <a:stCxn id="17" idx="3"/>
              <a:endCxn id="193" idx="1"/>
            </p:cNvCxnSpPr>
            <p:nvPr/>
          </p:nvCxnSpPr>
          <p:spPr>
            <a:xfrm flipV="1">
              <a:off x="3113865" y="2369287"/>
              <a:ext cx="1199832" cy="1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2F18F702-3A88-A911-191A-776C246D15FD}"/>
                </a:ext>
              </a:extLst>
            </p:cNvPr>
            <p:cNvGrpSpPr/>
            <p:nvPr/>
          </p:nvGrpSpPr>
          <p:grpSpPr>
            <a:xfrm>
              <a:off x="1617938" y="3449378"/>
              <a:ext cx="1528814" cy="568927"/>
              <a:chOff x="1617938" y="3449378"/>
              <a:chExt cx="1528814" cy="568927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0D23D1D-CBC8-CEF8-50B1-AF24B7211329}"/>
                  </a:ext>
                </a:extLst>
              </p:cNvPr>
              <p:cNvSpPr/>
              <p:nvPr/>
            </p:nvSpPr>
            <p:spPr>
              <a:xfrm>
                <a:off x="1648739" y="3480239"/>
                <a:ext cx="1463040" cy="28956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900" dirty="0"/>
                  <a:t>Wavelet decomposition</a:t>
                </a:r>
              </a:p>
              <a:p>
                <a:r>
                  <a:rPr lang="en-US" sz="900" b="1" dirty="0"/>
                  <a:t>Coif3 | Db4 | Haar | TQWT</a:t>
                </a:r>
                <a:endParaRPr lang="en-US" sz="900" dirty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8FDD3BD-34B9-CEAA-54B8-03B69E199C2F}"/>
                  </a:ext>
                </a:extLst>
              </p:cNvPr>
              <p:cNvSpPr/>
              <p:nvPr/>
            </p:nvSpPr>
            <p:spPr>
              <a:xfrm>
                <a:off x="1648739" y="3800279"/>
                <a:ext cx="822960" cy="18288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900" dirty="0"/>
                  <a:t>Levels L1–L7</a:t>
                </a:r>
                <a:endParaRPr lang="en-US" sz="900" dirty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44FDC860-4FDB-538C-FBC0-7663CC2B556A}"/>
                  </a:ext>
                </a:extLst>
              </p:cNvPr>
              <p:cNvSpPr/>
              <p:nvPr/>
            </p:nvSpPr>
            <p:spPr>
              <a:xfrm>
                <a:off x="1617938" y="3449378"/>
                <a:ext cx="1528814" cy="568927"/>
              </a:xfrm>
              <a:prstGeom prst="rect">
                <a:avLst/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E4B62CEE-701E-2CA8-822A-204DEA62F31A}"/>
                </a:ext>
              </a:extLst>
            </p:cNvPr>
            <p:cNvGrpSpPr/>
            <p:nvPr/>
          </p:nvGrpSpPr>
          <p:grpSpPr>
            <a:xfrm>
              <a:off x="4143077" y="3623598"/>
              <a:ext cx="1804281" cy="552923"/>
              <a:chOff x="4101219" y="3624206"/>
              <a:chExt cx="1804281" cy="552923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1331DB93-DAE3-B9AA-360E-333CED41B424}"/>
                  </a:ext>
                </a:extLst>
              </p:cNvPr>
              <p:cNvSpPr/>
              <p:nvPr/>
            </p:nvSpPr>
            <p:spPr>
              <a:xfrm>
                <a:off x="4134627" y="3654569"/>
                <a:ext cx="1737360" cy="18288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sz="900" b="1" dirty="0"/>
                  <a:t>Decomposed-model performance</a:t>
                </a:r>
                <a:endParaRPr lang="en-US" sz="900" b="1" dirty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A327D91-07BD-E29C-3F51-668CA1BEF50B}"/>
                  </a:ext>
                </a:extLst>
              </p:cNvPr>
              <p:cNvSpPr/>
              <p:nvPr/>
            </p:nvSpPr>
            <p:spPr>
              <a:xfrm>
                <a:off x="4134627" y="3870478"/>
                <a:ext cx="1737360" cy="27432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900" b="1" dirty="0"/>
                  <a:t>Optimal decomposition levels</a:t>
                </a:r>
                <a:br>
                  <a:rPr lang="en-US" sz="900" dirty="0"/>
                </a:br>
                <a:r>
                  <a:rPr lang="en-US" sz="900" dirty="0"/>
                  <a:t>L6 | L7</a:t>
                </a:r>
                <a:endParaRPr lang="en-US" sz="900" dirty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CFAEC9FA-87E4-2540-45D0-26BE7E5F50C3}"/>
                  </a:ext>
                </a:extLst>
              </p:cNvPr>
              <p:cNvSpPr/>
              <p:nvPr/>
            </p:nvSpPr>
            <p:spPr>
              <a:xfrm>
                <a:off x="4101219" y="3624206"/>
                <a:ext cx="1804281" cy="552923"/>
              </a:xfrm>
              <a:prstGeom prst="rect">
                <a:avLst/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36844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207</TotalTime>
  <Words>342</Words>
  <Application>Microsoft Office PowerPoint</Application>
  <PresentationFormat>On-screen Show (4:3)</PresentationFormat>
  <Paragraphs>89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Nafees Ahmed</dc:creator>
  <cp:lastModifiedBy>Nafees Ahmed</cp:lastModifiedBy>
  <cp:revision>13</cp:revision>
  <dcterms:created xsi:type="dcterms:W3CDTF">2026-09-12T13:48:16Z</dcterms:created>
  <dcterms:modified xsi:type="dcterms:W3CDTF">2026-09-12T17:37:46Z</dcterms:modified>
</cp:coreProperties>
</file>